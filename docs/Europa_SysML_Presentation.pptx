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9" r:id="rId5"/>
  </p:sldMasterIdLst>
  <p:notesMasterIdLst>
    <p:notesMasterId r:id="rId50"/>
  </p:notesMasterIdLst>
  <p:handoutMasterIdLst>
    <p:handoutMasterId r:id="rId51"/>
  </p:handoutMasterIdLst>
  <p:sldIdLst>
    <p:sldId id="261" r:id="rId6"/>
    <p:sldId id="309" r:id="rId7"/>
    <p:sldId id="310" r:id="rId8"/>
    <p:sldId id="303" r:id="rId9"/>
    <p:sldId id="293" r:id="rId10"/>
    <p:sldId id="262" r:id="rId11"/>
    <p:sldId id="269" r:id="rId12"/>
    <p:sldId id="270" r:id="rId13"/>
    <p:sldId id="271" r:id="rId14"/>
    <p:sldId id="268" r:id="rId15"/>
    <p:sldId id="265" r:id="rId16"/>
    <p:sldId id="273" r:id="rId17"/>
    <p:sldId id="274" r:id="rId18"/>
    <p:sldId id="275" r:id="rId19"/>
    <p:sldId id="276" r:id="rId20"/>
    <p:sldId id="277" r:id="rId21"/>
    <p:sldId id="289" r:id="rId22"/>
    <p:sldId id="295" r:id="rId23"/>
    <p:sldId id="296" r:id="rId24"/>
    <p:sldId id="297" r:id="rId25"/>
    <p:sldId id="298" r:id="rId26"/>
    <p:sldId id="272" r:id="rId27"/>
    <p:sldId id="294" r:id="rId28"/>
    <p:sldId id="302" r:id="rId29"/>
    <p:sldId id="300" r:id="rId30"/>
    <p:sldId id="301" r:id="rId31"/>
    <p:sldId id="278" r:id="rId32"/>
    <p:sldId id="267" r:id="rId33"/>
    <p:sldId id="280" r:id="rId34"/>
    <p:sldId id="282" r:id="rId35"/>
    <p:sldId id="281" r:id="rId36"/>
    <p:sldId id="313" r:id="rId37"/>
    <p:sldId id="283" r:id="rId38"/>
    <p:sldId id="286" r:id="rId39"/>
    <p:sldId id="284" r:id="rId40"/>
    <p:sldId id="287" r:id="rId41"/>
    <p:sldId id="285" r:id="rId42"/>
    <p:sldId id="308" r:id="rId43"/>
    <p:sldId id="305" r:id="rId44"/>
    <p:sldId id="306" r:id="rId45"/>
    <p:sldId id="307" r:id="rId46"/>
    <p:sldId id="311" r:id="rId47"/>
    <p:sldId id="312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B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132F7-63A0-F68F-66C7-6C93A401F0AF}" v="2460" dt="2026-07-22T10:51:35.092"/>
    <p1510:client id="{28C5C623-3DF7-4584-B115-41A30E3360C7}" v="2071" dt="2026-07-22T17:35:49.813"/>
    <p1510:client id="{2D8DE040-D13B-9540-57CD-9BB238CECE82}" v="208" dt="2026-07-22T03:34:50.069"/>
    <p1510:client id="{302426AF-5493-DA46-8780-4D3ECE024E71}" v="13" dt="2026-07-22T01:49:16.133"/>
    <p1510:client id="{3B0EDD72-4984-FD60-054D-7AA26FAC03FA}" v="54" dt="2026-07-22T06:31:54.569"/>
    <p1510:client id="{3B173FC7-0F73-3DCB-5E13-75C77B6101DC}" v="176" dt="2026-07-22T15:18:56.020"/>
    <p1510:client id="{47FE21ED-E144-7425-627D-05D0986EFC5A}" v="1" dt="2026-07-22T03:55:01.714"/>
    <p1510:client id="{5074C8EE-1A37-441F-87EE-B0E8DEC2896D}" v="1096" dt="2026-07-22T08:08:22.332"/>
    <p1510:client id="{6963C736-ACCB-9D50-8FE4-F58342B70EAF}" v="1167" dt="2026-07-22T01:36:51.855"/>
    <p1510:client id="{71A501E8-E40A-7C41-54DA-68CDCD52D8FF}" v="588" dt="2026-07-22T03:28:32.737"/>
    <p1510:client id="{7768AFE1-04DB-D629-2D56-0C01C3463A86}" v="115" dt="2026-07-22T17:15:34.703"/>
    <p1510:client id="{8BCCD8C6-DF76-8444-BB3B-BBDA19C98770}" v="223" dt="2026-07-22T16:21:33.162"/>
    <p1510:client id="{9A763D9A-67E9-452A-FDC4-DD0F0DC142B1}" v="9" dt="2026-07-22T18:05:36.647"/>
    <p1510:client id="{A4077C86-6CF6-2EFC-9778-2047625C6315}" v="22" dt="2026-07-22T17:17:58.269"/>
    <p1510:client id="{A68BB4C2-8558-9415-7CF9-E764E10E7E57}" v="1365" dt="2026-07-22T01:34:15.962"/>
    <p1510:client id="{F181BE32-EC92-FBF6-5A26-289380CE4CDF}" v="17" dt="2026-07-22T17:27:01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DBF93A-927A-3539-1EDB-EA038FDDFD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F31B3-AB96-5499-E585-7DBBB0F5CA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92274-D624-4C0A-9479-919C958199FD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CC389-5CD9-3173-8078-76CF2F548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0B47A-DAD6-E3E4-DE26-AA078BB68A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30BB0-ECC3-434B-8957-D408134F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56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30470-0E99-4B1D-9361-9A7D853F75A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681AB-A519-43D7-8152-BE3189C33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37BF40-35E4-4811-A643-9B3D93D5D9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89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0B959B79-431E-4AA8-B6E6-A24645AD330F}"/>
              </a:ext>
            </a:extLst>
          </p:cNvPr>
          <p:cNvSpPr/>
          <p:nvPr userDrawn="1"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FAB6A493-0B22-4B92-A58F-C7433FACB832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" y="1446"/>
            <a:ext cx="12192000" cy="6858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36516293-616B-4708-986C-98B67A033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717" y="5402295"/>
            <a:ext cx="2509308" cy="1163169"/>
          </a:xfrm>
          <a:prstGeom prst="rect">
            <a:avLst/>
          </a:prstGeom>
          <a:effectLst>
            <a:glow rad="63500">
              <a:srgbClr val="B4A168">
                <a:alpha val="25000"/>
              </a:srgb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31FDD6-1597-FA22-C401-4D5BFAE1613B}"/>
              </a:ext>
            </a:extLst>
          </p:cNvPr>
          <p:cNvSpPr txBox="1"/>
          <p:nvPr userDrawn="1"/>
        </p:nvSpPr>
        <p:spPr>
          <a:xfrm>
            <a:off x="-22868" y="6566910"/>
            <a:ext cx="3313729" cy="307777"/>
          </a:xfrm>
          <a:prstGeom prst="rect">
            <a:avLst/>
          </a:prstGeom>
          <a:noFill/>
          <a:ln w="31759" cap="flat">
            <a:noFill/>
            <a:prstDash val="solid"/>
            <a:miter/>
          </a:ln>
          <a:effectLst>
            <a:glow rad="38100">
              <a:srgbClr val="B4A168">
                <a:alpha val="25000"/>
              </a:srgb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>
                  <a:glow rad="25400">
                    <a:srgbClr val="A4925A">
                      <a:alpha val="40000"/>
                    </a:srgbClr>
                  </a:glow>
                </a:effectLst>
                <a:latin typeface="Roboto" panose="02000000000000000000" pitchFamily="2" charset="0"/>
                <a:ea typeface="Roboto" panose="02000000000000000000" pitchFamily="2" charset="0"/>
              </a:rPr>
              <a:t>Aerospace Systems Design Laboratory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F5946-B1B7-F2BF-2AE0-B8903B559E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98079" y="5638800"/>
            <a:ext cx="9493921" cy="1220647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14549DB9-0DB4-42BE-B36A-4789962F5A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661400" y="1446"/>
            <a:ext cx="3530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856480-DBBE-4208-A18C-8897508D1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6993" y="1819495"/>
            <a:ext cx="7604307" cy="1939705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4B634C39-8148-4489-B617-42B29E340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993" y="3860800"/>
            <a:ext cx="7604307" cy="1163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591806E-2ACF-56AB-A374-3EB38F5B4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2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1524000" y="0"/>
          <a:ext cx="0" cy="0"/>
          <a:chOff x="152400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76F490-EB93-4BD9-A8AE-FD38315FA755}"/>
              </a:ext>
            </a:extLst>
          </p:cNvPr>
          <p:cNvSpPr/>
          <p:nvPr userDrawn="1"/>
        </p:nvSpPr>
        <p:spPr>
          <a:xfrm>
            <a:off x="0" y="5637353"/>
            <a:ext cx="12192000" cy="12206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FAB429-2CDB-4227-AE68-5A9CC880D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46143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/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4166256-C2BF-40FD-930A-C0CED5B9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9604"/>
            <a:ext cx="9144000" cy="9107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60693-DD94-FD8D-0F6D-98AFEBD8399D}"/>
              </a:ext>
            </a:extLst>
          </p:cNvPr>
          <p:cNvSpPr/>
          <p:nvPr userDrawn="1"/>
        </p:nvSpPr>
        <p:spPr>
          <a:xfrm>
            <a:off x="0" y="6194544"/>
            <a:ext cx="12192000" cy="663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941EB2B-7777-1CE0-E2E6-7BE87FE84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717" y="5402295"/>
            <a:ext cx="2509308" cy="1163169"/>
          </a:xfrm>
          <a:prstGeom prst="rect">
            <a:avLst/>
          </a:prstGeom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B2D951-672D-EE04-B13D-DB14C2BA3C3C}"/>
              </a:ext>
            </a:extLst>
          </p:cNvPr>
          <p:cNvSpPr txBox="1"/>
          <p:nvPr userDrawn="1"/>
        </p:nvSpPr>
        <p:spPr>
          <a:xfrm>
            <a:off x="-22868" y="6566910"/>
            <a:ext cx="3313729" cy="307777"/>
          </a:xfrm>
          <a:prstGeom prst="rect">
            <a:avLst/>
          </a:prstGeom>
          <a:noFill/>
          <a:ln w="31759" cap="flat">
            <a:noFill/>
            <a:prstDash val="solid"/>
            <a:miter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Aerospace Systems Design Laboratory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1D79F6-92E3-3BAB-F640-5AA07C4444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98080" y="5638800"/>
            <a:ext cx="9493921" cy="122064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8805CCF-99C0-2931-1EBD-025104B1D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8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B6FA024-4E7E-4F24-A2A9-C1E2C4DC56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1042416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258F4399-3F0F-45E4-AA41-9802AD6BB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6" name="Date Placeholder 7">
            <a:extLst>
              <a:ext uri="{FF2B5EF4-FFF2-40B4-BE49-F238E27FC236}">
                <a16:creationId xmlns:a16="http://schemas.microsoft.com/office/drawing/2014/main" id="{6D133C20-537F-37BF-8C1C-BC1AF3EB9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164657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32F8ED2-3F27-43BD-BA88-D664DB11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0703600-6E57-4212-BC06-546C3E0E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5460CF2-EE16-C608-B863-7C9FDC562D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C22B5E64-AFED-699C-D9CF-7D6162F1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473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516636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480" y="862965"/>
            <a:ext cx="516636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9EFE626-861E-D6BB-DA2A-F5331CAF06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F25D3CAB-F859-4DF1-7F76-9E2F771770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103B3E-E89F-0DCA-F31F-B532DE03CE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C261A32-F9A3-71BB-A5B1-00B3D502AE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3429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6840" y="862965"/>
            <a:ext cx="6858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7F02BE7-B43A-5750-079B-F70D00EC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59A21E52-738D-9C09-6F63-76E60B6372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3269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6858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5840" y="862965"/>
            <a:ext cx="3429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3A67AE-CDA6-CAEB-2D8B-BCCF6617D2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2B9FF06E-E0D8-4461-8B83-142C17251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22612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3429000" cy="26060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6840" y="862965"/>
            <a:ext cx="6858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AE699F-6AB5-48F9-8777-7AF24365AF2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30679" y="3562350"/>
            <a:ext cx="3429000" cy="26060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7C330DD-D0A4-1B5D-9D3C-9A829B4F98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0B7EA64-588B-39F0-8358-A1BE6965A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26520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: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6858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5840" y="862965"/>
            <a:ext cx="3429000" cy="26060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34686C-E92F-4944-B709-5EE44BC5A34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625840" y="3560445"/>
            <a:ext cx="3429000" cy="26060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D9A4C21-CED9-D907-044B-F0FAB16DB9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D68E661-C3B1-25D9-A49F-85C93FC590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62927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104241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80" y="3536443"/>
            <a:ext cx="104241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915CE43-B33C-179D-E0BC-5490CE80014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A9F16323-542E-58C3-B493-F31F3AA807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60515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104241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8D182188-C463-6EA1-429C-C6A6B278B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2A5E70B-9F25-D498-1E3B-36F04E9EA5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561762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104241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B2A60F8-EDF8-497D-68C4-C600EE8B4F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EBE4E5AB-9785-04E6-1208-E6C7DF8B1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367424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51663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F47C00-6A63-4EE5-A2D1-42C5BACE89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88480" y="4410837"/>
            <a:ext cx="51663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930A1565-4996-1941-A3B9-7789E19FE4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746DB291-35AB-5E18-2BEC-494193EBFA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394842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(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51663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CE7A35-408C-462B-8802-6F1EB8BD04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88480" y="862965"/>
            <a:ext cx="516636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735620AA-ACEC-EABE-B487-01DFB6195D3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17E6B56F-9F99-5F75-3D21-422DF0D55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996811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(1: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F47C00-6A63-4EE5-A2D1-42C5BACE89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28259" y="4410837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369F716-C3F6-445B-B8F7-FDB857265AC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625840" y="4410837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E1720E1A-CFDD-CAAB-FCD4-69AA65C980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57C4F60-1515-1F18-A255-ED95ACCE1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809198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(1: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CE7A35-408C-462B-8802-6F1EB8BD04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28260" y="862965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78258D-D6BD-4623-B897-7F045DF6DE7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625840" y="862965"/>
            <a:ext cx="3429000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7962EB4-AAD2-4DC1-9905-D417DEAA8FE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35656C1-0246-C959-9555-E8DC34DC4E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809094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51663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480" y="862965"/>
            <a:ext cx="51663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AA21D9-AD30-4024-B409-F48F0F9E1DA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30680" y="3533013"/>
            <a:ext cx="51663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CF2A8C6-6E02-4DA7-8B78-E6BFE7D8CDF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88480" y="3533013"/>
            <a:ext cx="5166360" cy="26334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A51FBFD-8F80-F371-9D14-56B6A5481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9A4F7C8-FFCA-1D2D-7D63-62A19872D2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529816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1373" y="862965"/>
            <a:ext cx="3429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8953" y="862965"/>
            <a:ext cx="3429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2F2ECAF-D9B7-4608-AD7A-CDEB7170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4A9BCA-E1C9-4947-A5D9-733F7B91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663DA-3FCF-4BA1-B1DA-DA39CA01A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626534" y="862965"/>
            <a:ext cx="34290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F8F19B9-24C6-3162-3DB6-82666B5723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8FE03584-C801-17EA-2D7E-33B95910B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01739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3"/>
            <a:ext cx="256032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959" y="862963"/>
            <a:ext cx="256032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2F2ECAF-D9B7-4608-AD7A-CDEB7170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4A9BCA-E1C9-4947-A5D9-733F7B91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663DA-3FCF-4BA1-B1DA-DA39CA01A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73239" y="862963"/>
            <a:ext cx="256032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9F30E9-0586-4C94-81DF-6B7986E1FC9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494520" y="862965"/>
            <a:ext cx="256032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DF16F67-3ED7-D4DA-B54D-FFF9E01D99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798B877A-0C3B-FE04-D1C0-65A08CB665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43950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5166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80" y="1726883"/>
            <a:ext cx="516636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8480" y="862965"/>
            <a:ext cx="5166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88480" y="1726883"/>
            <a:ext cx="516636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4DE8512-BC82-4766-7004-DA303A934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4179414E-DD58-35B5-85AE-C01A99DCA7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041234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79" y="1726883"/>
            <a:ext cx="342900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2826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28259" y="1726883"/>
            <a:ext cx="342900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2ECA89C-ADA0-438A-929A-7534D6752F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2584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2B7EA7E4-DA79-4CF4-8C7D-D049BADC57A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25840" y="1726883"/>
            <a:ext cx="342900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3D9C4940-9B5E-5CE4-3F92-948848B4ED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5801349-0892-3AC9-D0ED-C0FD226D0E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786931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79" y="1726883"/>
            <a:ext cx="256032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5196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51959" y="1726883"/>
            <a:ext cx="256032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2ECA89C-ADA0-438A-929A-7534D6752F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7324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2B7EA7E4-DA79-4CF4-8C7D-D049BADC57A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73239" y="1726883"/>
            <a:ext cx="256032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14910D1-B39B-4A24-8C6D-78FDBA912F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9452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CBA9F19-7FB6-418F-819A-758C38E548E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494520" y="1726883"/>
            <a:ext cx="2560320" cy="443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8FA77AB-D1E0-8295-5615-8315BDE64E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ACD9C18-A13A-C6DA-7193-9FCCBF497F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19962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Slide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C8A718-B74E-44E2-94F1-F48AB956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077E4C8-23FD-424B-914B-86C182AE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3F496258-98E8-0065-4F54-24F7DEB386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3134CF72-9581-711A-797E-AF1F91ACAD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7" name="Date Placeholder 7">
            <a:extLst>
              <a:ext uri="{FF2B5EF4-FFF2-40B4-BE49-F238E27FC236}">
                <a16:creationId xmlns:a16="http://schemas.microsoft.com/office/drawing/2014/main" id="{D9F1F9F5-A3EB-BE40-4811-1EDFD4D15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309585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7">
            <a:extLst>
              <a:ext uri="{FF2B5EF4-FFF2-40B4-BE49-F238E27FC236}">
                <a16:creationId xmlns:a16="http://schemas.microsoft.com/office/drawing/2014/main" id="{C60CF839-3837-50DA-2CD8-2A2BB0E95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37024241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7">
            <a:extLst>
              <a:ext uri="{FF2B5EF4-FFF2-40B4-BE49-F238E27FC236}">
                <a16:creationId xmlns:a16="http://schemas.microsoft.com/office/drawing/2014/main" id="{27A47EFF-5EFD-107B-A0D4-B4C0DC477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123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9F4A4C-A347-204E-A90C-0E1D38A8DA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53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tally Blank Solid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7">
            <a:extLst>
              <a:ext uri="{FF2B5EF4-FFF2-40B4-BE49-F238E27FC236}">
                <a16:creationId xmlns:a16="http://schemas.microsoft.com/office/drawing/2014/main" id="{DF6093C0-39F0-5AC8-CB2C-66D000A04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123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241096B-246B-85B5-3C14-EAD72A92DA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935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372" y="137158"/>
            <a:ext cx="3657600" cy="228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972" y="137159"/>
            <a:ext cx="6765868" cy="6029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0680" y="2417444"/>
            <a:ext cx="3657600" cy="37490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0A16FC3-2F87-4976-B2BE-848107574A9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DF85FE-755C-4946-9B1F-8EBC14F5A0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6C10A08-5784-81FD-F839-8A18936170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C734E5D4-F2EA-C4D5-8FDA-E0150DD40D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8" name="Date Placeholder 7">
            <a:extLst>
              <a:ext uri="{FF2B5EF4-FFF2-40B4-BE49-F238E27FC236}">
                <a16:creationId xmlns:a16="http://schemas.microsoft.com/office/drawing/2014/main" id="{3E20E57C-1F5D-2876-F97F-BAC65ADC1160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20528037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372" y="133350"/>
            <a:ext cx="3657600" cy="228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88972" y="133350"/>
            <a:ext cx="6765868" cy="60331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1372" y="2419350"/>
            <a:ext cx="3657600" cy="37471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55B56BC-A87C-47B7-BC3B-C6954B15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7007035-5BA5-4EDC-94AC-8F232732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929801E-224B-91DE-F228-8871780DA3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D257DBD7-0DDB-24F5-0F60-4AA6B19358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0" name="Date Placeholder 7">
            <a:extLst>
              <a:ext uri="{FF2B5EF4-FFF2-40B4-BE49-F238E27FC236}">
                <a16:creationId xmlns:a16="http://schemas.microsoft.com/office/drawing/2014/main" id="{D468138A-DB86-6E8C-50C2-20ADD5B0409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 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23129374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raphic 138">
            <a:extLst>
              <a:ext uri="{FF2B5EF4-FFF2-40B4-BE49-F238E27FC236}">
                <a16:creationId xmlns:a16="http://schemas.microsoft.com/office/drawing/2014/main" id="{FAB6A493-0B22-4B92-A58F-C7433FACB832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" y="1446"/>
            <a:ext cx="12192000" cy="6858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36516293-616B-4708-986C-98B67A0339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717" y="5402295"/>
            <a:ext cx="2509308" cy="1163169"/>
          </a:xfrm>
          <a:prstGeom prst="rect">
            <a:avLst/>
          </a:prstGeom>
          <a:effectLst>
            <a:glow rad="63500">
              <a:srgbClr val="B4A168">
                <a:alpha val="25000"/>
              </a:srgb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31FDD6-1597-FA22-C401-4D5BFAE1613B}"/>
              </a:ext>
            </a:extLst>
          </p:cNvPr>
          <p:cNvSpPr txBox="1"/>
          <p:nvPr userDrawn="1"/>
        </p:nvSpPr>
        <p:spPr>
          <a:xfrm>
            <a:off x="-26074" y="6566910"/>
            <a:ext cx="3320141" cy="307777"/>
          </a:xfrm>
          <a:prstGeom prst="rect">
            <a:avLst/>
          </a:prstGeom>
          <a:noFill/>
          <a:ln w="31759" cap="flat">
            <a:noFill/>
            <a:prstDash val="solid"/>
            <a:miter/>
          </a:ln>
          <a:effectLst>
            <a:glow rad="38100">
              <a:srgbClr val="B4A168">
                <a:alpha val="25000"/>
              </a:srgb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  <a:effectLst>
                  <a:glow rad="25400">
                    <a:srgbClr val="A4925A">
                      <a:alpha val="40000"/>
                    </a:srgbClr>
                  </a:glow>
                </a:effectLst>
                <a:latin typeface="Roboto" panose="02000000000000000000" pitchFamily="2" charset="0"/>
                <a:ea typeface="Roboto" panose="02000000000000000000" pitchFamily="2" charset="0"/>
              </a:rPr>
              <a:t>Aerospace Systems Design Laboratory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4F5946-B1B7-F2BF-2AE0-B8903B559E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98079" y="5638800"/>
            <a:ext cx="9493921" cy="1220647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14549DB9-0DB4-42BE-B36A-4789962F5A7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661400" y="1446"/>
            <a:ext cx="3530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856480-DBBE-4208-A18C-8897508D1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6993" y="1819495"/>
            <a:ext cx="7604307" cy="1939705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4B634C39-8148-4489-B617-42B29E340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993" y="3860800"/>
            <a:ext cx="7604307" cy="1163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591806E-2ACF-56AB-A374-3EB38F5B49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31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1524000" y="0"/>
          <a:ext cx="0" cy="0"/>
          <a:chOff x="152400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3FAB429-2CDB-4227-AE68-5A9CC880D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46143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/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4166256-C2BF-40FD-930A-C0CED5B91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9604"/>
            <a:ext cx="9144000" cy="9107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941EB2B-7777-1CE0-E2E6-7BE87FE84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1717" y="5402295"/>
            <a:ext cx="2509308" cy="1163169"/>
          </a:xfrm>
          <a:prstGeom prst="rect">
            <a:avLst/>
          </a:prstGeom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B2D951-672D-EE04-B13D-DB14C2BA3C3C}"/>
              </a:ext>
            </a:extLst>
          </p:cNvPr>
          <p:cNvSpPr txBox="1"/>
          <p:nvPr userDrawn="1"/>
        </p:nvSpPr>
        <p:spPr>
          <a:xfrm>
            <a:off x="-26074" y="6566910"/>
            <a:ext cx="3320141" cy="307777"/>
          </a:xfrm>
          <a:prstGeom prst="rect">
            <a:avLst/>
          </a:prstGeom>
          <a:noFill/>
          <a:ln w="31759" cap="flat">
            <a:noFill/>
            <a:prstDash val="solid"/>
            <a:miter/>
          </a:ln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Aerospace Systems Design Laboratory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1D79F6-92E3-3BAB-F640-5AA07C4444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98080" y="5638800"/>
            <a:ext cx="9493921" cy="122064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8805CCF-99C0-2931-1EBD-025104B1D3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551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B6FA024-4E7E-4F24-A2A9-C1E2C4DC56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1042416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258F4399-3F0F-45E4-AA41-9802AD6BB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7021663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5170-396F-CE4F-A0AB-300CE97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32F8ED2-3F27-43BD-BA88-D664DB11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0703600-6E57-4212-BC06-546C3E0E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45460CF2-EE16-C608-B863-7C9FDC562D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C22B5E64-AFED-699C-D9CF-7D6162F1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05488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516636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480" y="862965"/>
            <a:ext cx="516636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9EFE626-861E-D6BB-DA2A-F5331CAF06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F25D3CAB-F859-4DF1-7F76-9E2F771770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103B3E-E89F-0DCA-F31F-B532DE03CED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C261A32-F9A3-71BB-A5B1-00B3D502AE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702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3429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6840" y="862965"/>
            <a:ext cx="6858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7F02BE7-B43A-5750-079B-F70D00EC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59A21E52-738D-9C09-6F63-76E60B6372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331274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6858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5840" y="862965"/>
            <a:ext cx="3429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3A67AE-CDA6-CAEB-2D8B-BCCF6617D2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2B9FF06E-E0D8-4461-8B83-142C17251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6" name="Date Placeholder 7">
            <a:extLst>
              <a:ext uri="{FF2B5EF4-FFF2-40B4-BE49-F238E27FC236}">
                <a16:creationId xmlns:a16="http://schemas.microsoft.com/office/drawing/2014/main" id="{EEFDBE7F-B5D9-6AF5-06E2-40437C25F7C9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</a:t>
            </a:r>
            <a:br>
              <a:rPr lang="en-US"/>
            </a:br>
            <a:r>
              <a:rPr lang="en-US"/>
              <a:t>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1711848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3429000" cy="26060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6840" y="862965"/>
            <a:ext cx="6858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AE699F-6AB5-48F9-8777-7AF24365AF2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30679" y="3562350"/>
            <a:ext cx="3429000" cy="26060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7C330DD-D0A4-1B5D-9D3C-9A829B4F98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0B7EA64-588B-39F0-8358-A1BE6965A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7" name="Date Placeholder 7">
            <a:extLst>
              <a:ext uri="{FF2B5EF4-FFF2-40B4-BE49-F238E27FC236}">
                <a16:creationId xmlns:a16="http://schemas.microsoft.com/office/drawing/2014/main" id="{6DB18303-F4F6-460F-3E31-2B22B59091C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</a:t>
            </a:r>
            <a:br>
              <a:rPr lang="en-US"/>
            </a:br>
            <a:r>
              <a:rPr lang="en-US"/>
              <a:t>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6539873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: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6858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5840" y="862965"/>
            <a:ext cx="3429000" cy="26060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34686C-E92F-4944-B709-5EE44BC5A34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625840" y="3560445"/>
            <a:ext cx="3429000" cy="26060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ED9A4C21-CED9-D907-044B-F0FAB16DB9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D68E661-C3B1-25D9-A49F-85C93FC590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3693255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104241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80" y="3536443"/>
            <a:ext cx="104241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915CE43-B33C-179D-E0BC-5490CE80014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A9F16323-542E-58C3-B493-F31F3AA807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7742048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104241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8D182188-C463-6EA1-429C-C6A6B278B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2A5E70B-9F25-D498-1E3B-36F04E9EA5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8156275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104241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B2A60F8-EDF8-497D-68C4-C600EE8B4F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EBE4E5AB-9785-04E6-1208-E6C7DF8B1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6" name="Date Placeholder 7">
            <a:extLst>
              <a:ext uri="{FF2B5EF4-FFF2-40B4-BE49-F238E27FC236}">
                <a16:creationId xmlns:a16="http://schemas.microsoft.com/office/drawing/2014/main" id="{01A8BE26-93D7-30DF-F246-02A2058C7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</a:t>
            </a:r>
            <a:br>
              <a:rPr lang="en-US"/>
            </a:br>
            <a:r>
              <a:rPr lang="en-US"/>
              <a:t>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34147875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(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51663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F47C00-6A63-4EE5-A2D1-42C5BACE89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88480" y="4410837"/>
            <a:ext cx="51663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930A1565-4996-1941-A3B9-7789E19FE4E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746DB291-35AB-5E18-2BEC-494193EBFA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1663908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(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51663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CE7A35-408C-462B-8802-6F1EB8BD04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88480" y="862965"/>
            <a:ext cx="516636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735620AA-ACEC-EABE-B487-01DFB6195D3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17E6B56F-9F99-5F75-3D21-422DF0D55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7428658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2:(1:1: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1250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4410837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F47C00-6A63-4EE5-A2D1-42C5BACE89F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28259" y="4410837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369F716-C3F6-445B-B8F7-FDB857265AC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625840" y="4410837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E1720E1A-CFDD-CAAB-FCD4-69AA65C980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57C4F60-1515-1F18-A255-ED95ACCE1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2531443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(1:1:1)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5C34-ACCB-4E4C-A1A8-41865D73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D982-95CA-4298-8B1E-7A7C980A7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DE2BC-1D26-4292-BD4E-3E2FD028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11318C-E6F7-43E8-B653-F31C72254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0680" y="862965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7B51A8-74B2-4836-9DFD-5C1EDCEBD5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0679" y="2658619"/>
            <a:ext cx="10424160" cy="35112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9CE7A35-408C-462B-8802-6F1EB8BD04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128260" y="862965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A78258D-D6BD-4623-B897-7F045DF6DE7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625840" y="862965"/>
            <a:ext cx="3429000" cy="1755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7962EB4-AAD2-4DC1-9905-D417DEAA8FE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35656C1-0246-C959-9555-E8DC34DC4E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1567660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5"/>
            <a:ext cx="51663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480" y="862965"/>
            <a:ext cx="51663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0A94-9D05-40D6-B12D-3456F7DC55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BF57C-247D-423A-88B0-7F9A00C4372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86979-C276-4BBA-A7B4-F3EFE04B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AA21D9-AD30-4024-B409-F48F0F9E1DA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630680" y="3533013"/>
            <a:ext cx="51663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CF2A8C6-6E02-4DA7-8B78-E6BFE7D8CDF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88480" y="3533013"/>
            <a:ext cx="5166360" cy="263347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A51FBFD-8F80-F371-9D14-56B6A5481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49A4F7C8-FFCA-1D2D-7D63-62A19872D2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6325460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1373" y="862965"/>
            <a:ext cx="3429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8953" y="862965"/>
            <a:ext cx="3429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2F2ECAF-D9B7-4608-AD7A-CDEB7170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4A9BCA-E1C9-4947-A5D9-733F7B91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663DA-3FCF-4BA1-B1DA-DA39CA01A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626534" y="862965"/>
            <a:ext cx="342900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F8F19B9-24C6-3162-3DB6-82666B5723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8FE03584-C801-17EA-2D7E-33B95910B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7" name="Date Placeholder 7">
            <a:extLst>
              <a:ext uri="{FF2B5EF4-FFF2-40B4-BE49-F238E27FC236}">
                <a16:creationId xmlns:a16="http://schemas.microsoft.com/office/drawing/2014/main" id="{601EDF4E-F8B6-A525-C20E-69A6BB19B46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</a:t>
            </a:r>
            <a:br>
              <a:rPr lang="en-US"/>
            </a:br>
            <a:r>
              <a:rPr lang="en-US"/>
              <a:t>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12157570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323E-BF1A-8C44-9650-0F8A4E12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0679" y="862963"/>
            <a:ext cx="256032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EEF26-478D-684B-BFF1-D8FD9BE7D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959" y="862963"/>
            <a:ext cx="256032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B768D-628B-BB40-BEE5-32E27182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F2F2ECAF-D9B7-4608-AD7A-CDEB7170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E4A9BCA-E1C9-4947-A5D9-733F7B91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663DA-3FCF-4BA1-B1DA-DA39CA01A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73239" y="862963"/>
            <a:ext cx="256032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9F30E9-0586-4C94-81DF-6B7986E1FC9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494520" y="862965"/>
            <a:ext cx="2560320" cy="53035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DF16F67-3ED7-D4DA-B54D-FFF9E01D99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798B877A-0C3B-FE04-D1C0-65A08CB665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21" name="Date Placeholder 7">
            <a:extLst>
              <a:ext uri="{FF2B5EF4-FFF2-40B4-BE49-F238E27FC236}">
                <a16:creationId xmlns:a16="http://schemas.microsoft.com/office/drawing/2014/main" id="{61725A3C-FD0C-C852-EFC8-E3CDEB99928F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-3810" y="5900351"/>
            <a:ext cx="1630680" cy="2667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Last Updated: Aug 05, 2022</a:t>
            </a:r>
            <a:br>
              <a:rPr lang="en-US"/>
            </a:br>
            <a:r>
              <a:rPr lang="en-US"/>
              <a:t>ASDL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10261043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5166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80" y="1726883"/>
            <a:ext cx="516636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8480" y="862965"/>
            <a:ext cx="5166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88480" y="1726883"/>
            <a:ext cx="516636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4DE8512-BC82-4766-7004-DA303A934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4179414E-DD58-35B5-85AE-C01A99DCA7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5338896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79" y="1726883"/>
            <a:ext cx="342900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2826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28259" y="1726883"/>
            <a:ext cx="342900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2ECA89C-ADA0-438A-929A-7534D6752F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25840" y="862965"/>
            <a:ext cx="3429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2B7EA7E4-DA79-4CF4-8C7D-D049BADC57A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25840" y="1726883"/>
            <a:ext cx="342900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3D9C4940-9B5E-5CE4-3F92-948848B4ED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5801349-0892-3AC9-D0ED-C0FD226D0E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6945147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ncy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10077-12D2-2D4D-8F51-D9CB6B044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DF7D1-4D77-4C46-B579-F5861C745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0679" y="1726883"/>
            <a:ext cx="256032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9A1FD-16BD-7B41-8D0F-269780D1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5196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AF2E0-F5E8-3946-89DE-62BFD441B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51959" y="1726883"/>
            <a:ext cx="256032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C85B3CD-1E23-49CE-8A0D-EAD5528E0F2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4710BA8-AF20-4876-9E18-26E7A9ED38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4BE5D18B-CB99-4551-BFA1-DD0EF9F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2ECA89C-ADA0-438A-929A-7534D6752F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7324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2B7EA7E4-DA79-4CF4-8C7D-D049BADC57AD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73239" y="1726883"/>
            <a:ext cx="256032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14910D1-B39B-4A24-8C6D-78FDBA912F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94520" y="862965"/>
            <a:ext cx="256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CBA9F19-7FB6-418F-819A-758C38E548EE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494520" y="1726883"/>
            <a:ext cx="2560320" cy="44396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8FA77AB-D1E0-8295-5615-8315BDE64E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ACD9C18-A13A-C6DA-7193-9FCCBF497F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576293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Slide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C8A718-B74E-44E2-94F1-F48AB956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077E4C8-23FD-424B-914B-86C182AE7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3F496258-98E8-0065-4F54-24F7DEB386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3134CF72-9581-711A-797E-AF1F91ACAD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1942899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5353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E80E750-8D60-22CF-53E9-DE2E472156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83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tally Blank Solid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B97DE73-7CF9-96AB-356E-D916BE33A5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04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C417-39B3-8947-8902-0153B500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372" y="137158"/>
            <a:ext cx="3657600" cy="228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0FAD0-D969-274E-8AC0-FC5A894FB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8972" y="137159"/>
            <a:ext cx="6765868" cy="6029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C2C-9388-6049-AEF3-C1606676A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0680" y="2417444"/>
            <a:ext cx="3657600" cy="37490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0A16FC3-2F87-4976-B2BE-848107574A9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7DF85FE-755C-4946-9B1F-8EBC14F5A09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36C10A08-5784-81FD-F839-8A18936170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C734E5D4-F2EA-C4D5-8FDA-E0150DD40D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3942905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E57A-36CB-814D-B1A5-9012A244B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372" y="133350"/>
            <a:ext cx="3657600" cy="228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259A3-587A-6D4A-AEF8-E4225996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88972" y="133350"/>
            <a:ext cx="6765868" cy="60331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C1918-55BE-A644-8FDC-9E18F9A99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31372" y="2419350"/>
            <a:ext cx="3657600" cy="37471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55B56BC-A87C-47B7-BC3B-C6954B15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7007035-5BA5-4EDC-94AC-8F232732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929801E-224B-91DE-F228-8871780DA3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79" y="85385"/>
            <a:ext cx="731520" cy="914400"/>
          </a:xfrm>
          <a:prstGeom prst="rect">
            <a:avLst/>
          </a:prstGeom>
          <a:ln w="19050">
            <a:solidFill>
              <a:srgbClr val="BFB37C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10x8 photo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D257DBD7-0DDB-24F5-0F60-4AA6B19358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1" y="1039791"/>
            <a:ext cx="1630680" cy="163702"/>
          </a:xfrm>
        </p:spPr>
        <p:txBody>
          <a:bodyPr anchor="ctr">
            <a:noAutofit/>
          </a:bodyPr>
          <a:lstStyle>
            <a:lvl1pPr marL="0" indent="0" algn="ctr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79043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32" Type="http://schemas.openxmlformats.org/officeDocument/2006/relationships/image" Target="../media/image10.svg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31" Type="http://schemas.openxmlformats.org/officeDocument/2006/relationships/image" Target="../media/image3.svg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10424160" cy="530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166485"/>
            <a:ext cx="9555480" cy="6915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228600" indent="-228600" algn="l">
              <a:buFont typeface="+mj-lt"/>
              <a:buAutoNum type="arabicPeriod"/>
              <a:defRPr sz="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0"/>
            <a:ext cx="457200" cy="266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B959FB5-C1CD-4C70-87F2-CE6CCF2682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0" y="6166484"/>
            <a:ext cx="2491740" cy="69151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E1FE6CA-E091-4515-ADEA-675144600D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8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rgbClr val="BFB37C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794E2-0939-7444-A82A-8BD5C7FA1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680" y="-1"/>
            <a:ext cx="1042416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6A5F8-57A3-204B-9489-10B6EA097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680" y="862965"/>
            <a:ext cx="10424160" cy="530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8B9A-12D6-EA40-AB29-6918054B5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9360" y="6166485"/>
            <a:ext cx="9555480" cy="6915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228600" indent="-228600" algn="l">
              <a:buFont typeface="+mj-lt"/>
              <a:buAutoNum type="arabicPeriod"/>
              <a:defRPr sz="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F842A-A21A-C542-88CC-30F0DD78D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0"/>
            <a:ext cx="457200" cy="266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E678206-0642-9F48-9727-6B519CB285F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E1FE6CA-E091-4515-ADEA-675144600D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-5746750" y="300037"/>
            <a:ext cx="4762500" cy="6429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4DEA30-4448-C5BE-6E82-D36C8E047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0" y="6166485"/>
            <a:ext cx="2491740" cy="69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0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baseline="0">
          <a:solidFill>
            <a:srgbClr val="BFB37C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8.jpeg"/><Relationship Id="rId2" Type="http://schemas.openxmlformats.org/officeDocument/2006/relationships/hyperlink" Target="mailto:akulkarni367@gatech.ed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wmulder3@gatech.edu" TargetMode="External"/><Relationship Id="rId5" Type="http://schemas.openxmlformats.org/officeDocument/2006/relationships/hyperlink" Target="mailto:dnaik39@gatech.edu" TargetMode="External"/><Relationship Id="rId10" Type="http://schemas.openxmlformats.org/officeDocument/2006/relationships/image" Target="../media/image20.jpeg"/><Relationship Id="rId4" Type="http://schemas.openxmlformats.org/officeDocument/2006/relationships/image" Target="../media/image17.jpeg"/><Relationship Id="rId9" Type="http://schemas.openxmlformats.org/officeDocument/2006/relationships/hyperlink" Target="mailto:treitman3@gatech.ed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mailto:wmulder3@gatech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monitor.com/dde/index.php/Main/EnergyStorage" TargetMode="External"/><Relationship Id="rId2" Type="http://schemas.openxmlformats.org/officeDocument/2006/relationships/hyperlink" Target="https://science.nasa.gov/mission/europa-clipper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hyperlink" Target="https://pvcase.com/blog/solar-irradiance-calculator" TargetMode="External"/><Relationship Id="rId4" Type="http://schemas.openxmlformats.org/officeDocument/2006/relationships/hyperlink" Target="https://www.bluettipower.com/blogs/articles/solar-power-calculation-formula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space.jpl.nasa.gov/dsndocs/810-005/" TargetMode="External"/><Relationship Id="rId7" Type="http://schemas.openxmlformats.org/officeDocument/2006/relationships/hyperlink" Target="https://ieeexplore.ieee.org/abstract/document/8058576/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ink.springer.com/article/10.1007/s11214-023-00972-0" TargetMode="External"/><Relationship Id="rId5" Type="http://schemas.openxmlformats.org/officeDocument/2006/relationships/hyperlink" Target="https://www.nasa.gov/centers-and-facilities/langley/europa-clipper-high-gain-antenna-undergoes-precision-testing-at-nasa-langley/" TargetMode="External"/><Relationship Id="rId4" Type="http://schemas.openxmlformats.org/officeDocument/2006/relationships/hyperlink" Target="https://science.nasa.gov/missions/europa-clipper/europa-clipper-resources/standing-tall-europa-clippers-high-gain-antenna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C634-9F4C-A2AA-0297-1DBF0836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Roboto"/>
                <a:ea typeface="Roboto"/>
                <a:cs typeface="Roboto"/>
              </a:rPr>
              <a:t>4699 </a:t>
            </a:r>
            <a:r>
              <a:rPr lang="en-US" sz="3600" err="1">
                <a:latin typeface="Roboto"/>
                <a:ea typeface="Roboto"/>
                <a:cs typeface="Roboto"/>
              </a:rPr>
              <a:t>SysML</a:t>
            </a:r>
            <a:r>
              <a:rPr lang="en-US" sz="3600">
                <a:latin typeface="Roboto"/>
                <a:ea typeface="Roboto"/>
                <a:cs typeface="Roboto"/>
              </a:rPr>
              <a:t> Team 102</a:t>
            </a:r>
            <a:br>
              <a:rPr lang="en-US" sz="3600">
                <a:latin typeface="Roboto"/>
                <a:ea typeface="Roboto"/>
                <a:cs typeface="Roboto"/>
              </a:rPr>
            </a:br>
            <a:r>
              <a:rPr lang="en-US" sz="2400">
                <a:latin typeface="Roboto"/>
                <a:ea typeface="Roboto"/>
                <a:cs typeface="Roboto"/>
              </a:rPr>
              <a:t>Europa Submarine Model</a:t>
            </a:r>
            <a:endParaRPr lang="en-US" sz="3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87439-C960-1B38-B3A7-280707D4B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993" y="3851374"/>
            <a:ext cx="7604307" cy="11631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Dhriti Naik, Anish Kulkarni, Ryland Marley, Aaditya Patel, Toby Reitman, William Mulder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July 22, 2026</a:t>
            </a:r>
          </a:p>
        </p:txBody>
      </p:sp>
    </p:spTree>
    <p:extLst>
      <p:ext uri="{BB962C8B-B14F-4D97-AF65-F5344CB8AC3E}">
        <p14:creationId xmlns:p14="http://schemas.microsoft.com/office/powerpoint/2010/main" val="19332148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2737-55AB-BA11-2164-C8C6ECAB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2168A-B04E-C3E5-D8E4-6DC0E1D790A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51937E-F489-9F1D-D05C-7CE2C2B9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639" y="-1"/>
            <a:ext cx="11037201" cy="822960"/>
          </a:xfrm>
        </p:spPr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Background of Europa Exploration: Europa Clipper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34E1-18F9-0C2F-DE69-26FE48EAC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919" y="777240"/>
            <a:ext cx="10424160" cy="5303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Europa is believed to have a saltwater ocean under its icy crust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The chemical compounds and temperatures for liquid water to exist is thought to allow life to exist on Europa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The Europa Clipper launched in 2024 and is intended to study the moon Europa that orbits Jupiter; a trip over 1.8 billion miles and five years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It utilizes many systems to search for the necessary elements of life, such as water as it orbits the moon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BE4C6-A31A-F801-3FB4-5AB4293B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329" y="3805119"/>
            <a:ext cx="4002431" cy="265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0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8BE84-3AFA-3B90-9612-B2B9653860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E9CB3-7114-F489-944A-A8C580C1737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23DD84-D0B2-17E8-66F5-363E9F6B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Europa and Our Mission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6E423D-9B12-E3B4-0429-367504C4A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"/>
                <a:ea typeface="Roboto"/>
                <a:cs typeface="Roboto"/>
              </a:rPr>
              <a:t>Until a few years ago, NASA was working on the Sensing With Independent Micro-swimmers (SWIM) mission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Objective: use miniature submarines to explore under Europa’s icy surface to search for signs of life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Our project is modeling the subsystems of a SWIM submarine and the spacecraft transporting it, specifically Thermal Control, Power, Radiation Shielding and Structural, Communications, and Propulsion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DB1F82-3BBA-3928-0D79-D3AB9059C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973" y="3859439"/>
            <a:ext cx="3775707" cy="2814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2F71BB-FB11-3A94-FF45-548E3CA8F3E9}"/>
              </a:ext>
            </a:extLst>
          </p:cNvPr>
          <p:cNvSpPr txBox="1"/>
          <p:nvPr/>
        </p:nvSpPr>
        <p:spPr>
          <a:xfrm>
            <a:off x="5161935" y="4643630"/>
            <a:ext cx="275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NASA Prototypes &gt;&gt;</a:t>
            </a:r>
          </a:p>
        </p:txBody>
      </p:sp>
    </p:spTree>
    <p:extLst>
      <p:ext uri="{BB962C8B-B14F-4D97-AF65-F5344CB8AC3E}">
        <p14:creationId xmlns:p14="http://schemas.microsoft.com/office/powerpoint/2010/main" val="193412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D886-D97C-5969-EB10-B58F53E7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99B3-ABEB-0C1F-805D-34D7AB48C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286" y="-924152"/>
            <a:ext cx="9144000" cy="26461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The Team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7C5F3-CD16-7100-9DF6-8F5BFF3A0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0334" y="3615086"/>
            <a:ext cx="2601753" cy="9841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latin typeface="Roboto"/>
                <a:ea typeface="Roboto"/>
                <a:cs typeface="Roboto"/>
              </a:rPr>
              <a:t>Anish Kulkarni</a:t>
            </a:r>
          </a:p>
          <a:p>
            <a:r>
              <a:rPr lang="en-US" sz="1600">
                <a:latin typeface="Roboto"/>
                <a:ea typeface="Roboto"/>
                <a:cs typeface="Roboto"/>
                <a:hlinkClick r:id="rId2"/>
              </a:rPr>
              <a:t>akulkarni367@gatech.edu</a:t>
            </a:r>
            <a:endParaRPr lang="en-US" sz="1600">
              <a:latin typeface="Roboto"/>
              <a:ea typeface="Roboto"/>
              <a:cs typeface="Roboto"/>
            </a:endParaRPr>
          </a:p>
          <a:p>
            <a:endParaRPr lang="en-US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9D140-D02A-BE3B-4FDA-CB0CB17D1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2" y="999645"/>
            <a:ext cx="1307748" cy="2424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8F998-7EC5-457E-46F0-8F5C9B17A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6" r="14139" b="18166"/>
          <a:stretch>
            <a:fillRect/>
          </a:stretch>
        </p:blipFill>
        <p:spPr>
          <a:xfrm>
            <a:off x="2515275" y="971331"/>
            <a:ext cx="1571888" cy="2437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54CF2A-4DCB-4CD5-6199-EF3C3E73B973}"/>
              </a:ext>
            </a:extLst>
          </p:cNvPr>
          <p:cNvSpPr txBox="1"/>
          <p:nvPr/>
        </p:nvSpPr>
        <p:spPr>
          <a:xfrm>
            <a:off x="2339075" y="3431539"/>
            <a:ext cx="2312083" cy="789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Dhriti Naik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dnaik39@gatech.edu</a:t>
            </a: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 </a:t>
            </a:r>
            <a:endParaRPr lang="en-US" sz="1600">
              <a:solidFill>
                <a:schemeClr val="bg1"/>
              </a:solidFill>
              <a:ea typeface="Roboto"/>
              <a:cs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9944E-7677-1E9A-B260-9C3909961D95}"/>
              </a:ext>
            </a:extLst>
          </p:cNvPr>
          <p:cNvSpPr txBox="1"/>
          <p:nvPr/>
        </p:nvSpPr>
        <p:spPr>
          <a:xfrm>
            <a:off x="4461192" y="3414046"/>
            <a:ext cx="2327474" cy="789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William Mulder</a:t>
            </a: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bg1"/>
                </a:solidFill>
                <a:latin typeface="Roboto"/>
                <a:ea typeface="Roboto"/>
                <a:cs typeface="Robot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wmulder3@gatech.edu</a:t>
            </a:r>
            <a:endParaRPr lang="en-US" sz="160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1079AD-FE34-5906-0064-BF34D11AA4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1600"/>
          <a:stretch>
            <a:fillRect/>
          </a:stretch>
        </p:blipFill>
        <p:spPr>
          <a:xfrm>
            <a:off x="4789900" y="974010"/>
            <a:ext cx="1676038" cy="2212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0B4779-666F-2DA8-84F3-442531F5525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685" t="6280" r="14148" b="18063"/>
          <a:stretch>
            <a:fillRect/>
          </a:stretch>
        </p:blipFill>
        <p:spPr>
          <a:xfrm>
            <a:off x="7037142" y="1084882"/>
            <a:ext cx="1524436" cy="2206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9BBD7A-D416-D777-2EE2-68A66BF16DB0}"/>
              </a:ext>
            </a:extLst>
          </p:cNvPr>
          <p:cNvSpPr txBox="1"/>
          <p:nvPr/>
        </p:nvSpPr>
        <p:spPr>
          <a:xfrm>
            <a:off x="6572884" y="3617178"/>
            <a:ext cx="27431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ea typeface="Roboto"/>
                <a:cs typeface="Roboto"/>
              </a:rPr>
              <a:t>Toby Reitman</a:t>
            </a:r>
            <a:endParaRPr lang="en-US"/>
          </a:p>
          <a:p>
            <a:pPr algn="ctr"/>
            <a:r>
              <a:rPr lang="en-US" sz="1600">
                <a:solidFill>
                  <a:schemeClr val="bg1"/>
                </a:solidFill>
                <a:ea typeface="Roboto"/>
                <a:cs typeface="Roboto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treitman3@gatech.edu</a:t>
            </a:r>
            <a:r>
              <a:rPr lang="en-US" sz="1600">
                <a:solidFill>
                  <a:schemeClr val="bg1"/>
                </a:solidFill>
                <a:ea typeface="Roboto"/>
                <a:cs typeface="Roboto"/>
              </a:rPr>
              <a:t> </a:t>
            </a:r>
          </a:p>
        </p:txBody>
      </p:sp>
      <p:pic>
        <p:nvPicPr>
          <p:cNvPr id="10" name="Picture 9" descr="A person wearing sunglasses and smiling&#10;&#10;AI-generated content may be incorrect.">
            <a:extLst>
              <a:ext uri="{FF2B5EF4-FFF2-40B4-BE49-F238E27FC236}">
                <a16:creationId xmlns:a16="http://schemas.microsoft.com/office/drawing/2014/main" id="{43443717-492D-4F50-9FD9-FA515DFBADD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10" b="12762"/>
          <a:stretch>
            <a:fillRect/>
          </a:stretch>
        </p:blipFill>
        <p:spPr>
          <a:xfrm>
            <a:off x="9312150" y="1083776"/>
            <a:ext cx="1675119" cy="215147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F25E3E2F-B640-9E4A-8569-A29FAE05245C}"/>
              </a:ext>
            </a:extLst>
          </p:cNvPr>
          <p:cNvSpPr txBox="1">
            <a:spLocks/>
          </p:cNvSpPr>
          <p:nvPr/>
        </p:nvSpPr>
        <p:spPr>
          <a:xfrm>
            <a:off x="8494064" y="3452445"/>
            <a:ext cx="3403600" cy="9107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Roboto"/>
                <a:ea typeface="Roboto"/>
                <a:cs typeface="Roboto"/>
              </a:rPr>
              <a:t>Ryland Marley</a:t>
            </a:r>
          </a:p>
          <a:p>
            <a:r>
              <a:rPr lang="en-US" sz="1600">
                <a:latin typeface="Roboto"/>
                <a:ea typeface="Roboto"/>
                <a:cs typeface="Roboto"/>
              </a:rPr>
              <a:t>wmarley6@gatech.edu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7504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96436-DA5F-CD78-84A9-55EE730E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83B4-8149-498C-1D6F-0ED149C5A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Power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064B5-4D7C-5770-31E0-9B0511A96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William Mulder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A026476-F6E5-0FEC-D6E5-2D78B1245CB4}"/>
              </a:ext>
            </a:extLst>
          </p:cNvPr>
          <p:cNvSpPr txBox="1">
            <a:spLocks/>
          </p:cNvSpPr>
          <p:nvPr/>
        </p:nvSpPr>
        <p:spPr>
          <a:xfrm>
            <a:off x="163286" y="3660280"/>
            <a:ext cx="3403600" cy="9107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"/>
                <a:ea typeface="Roboto"/>
                <a:cs typeface="Roboto"/>
              </a:rPr>
              <a:t>William Mulder</a:t>
            </a:r>
          </a:p>
          <a:p>
            <a:r>
              <a:rPr lang="en-US">
                <a:latin typeface="Roboto"/>
                <a:ea typeface="Roboto"/>
                <a:cs typeface="Roboto"/>
                <a:hlinkClick r:id="rId2"/>
              </a:rPr>
              <a:t>wmulder3@gatech.edu</a:t>
            </a:r>
            <a:endParaRPr lang="en-US">
              <a:latin typeface="Roboto"/>
              <a:ea typeface="Roboto"/>
              <a:cs typeface="Robo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5EEF07-321E-6A9E-AC47-40827740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600"/>
          <a:stretch>
            <a:fillRect/>
          </a:stretch>
        </p:blipFill>
        <p:spPr>
          <a:xfrm>
            <a:off x="1027067" y="1216852"/>
            <a:ext cx="1676038" cy="221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38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233B-82AB-AF5A-F9C7-D1AF733E2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41118" y="4808664"/>
            <a:ext cx="10413722" cy="1347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u="sng">
                <a:latin typeface="Roboto"/>
                <a:ea typeface="Roboto"/>
                <a:cs typeface="Roboto"/>
              </a:rPr>
              <a:t>OBJECTIVES: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Calculate power generated by solar panels based on size and irradiance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Determine power storage for three batteries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Find power surplus/deficit from generation compared to demand from other systems.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2746B-842C-23BE-BC14-28F59133828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CDE4C-C30A-BA1C-4E2A-EDFF9B5F9F7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9D2A81-9BC9-943A-987F-A1893754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Power Subsystem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7F5956-BDF4-08B9-AD61-FBE7C01E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054" y="847398"/>
            <a:ext cx="5009890" cy="373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8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5DE4F-5651-4F02-FC34-5F33C287C7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  <a:hlinkClick r:id="rId2"/>
              </a:rPr>
              <a:t>https://science.nasa.gov/mission/europa-clipper/</a:t>
            </a:r>
            <a:endParaRPr lang="en-US">
              <a:cs typeface="Roboto" panose="02000000000000000000" pitchFamily="2" charset="0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3"/>
              </a:rPr>
              <a:t>https://apmonitor.com/dde/index.php/Main/EnergyStorage</a:t>
            </a:r>
            <a:endParaRPr lang="en-US">
              <a:cs typeface="Roboto" panose="02000000000000000000" pitchFamily="2" charset="0"/>
              <a:hlinkClick r:id="rId3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4"/>
              </a:rPr>
              <a:t>https://www.bluettipower.com/blogs/articles/solar-power-calculation-formula</a:t>
            </a:r>
            <a:endParaRPr lang="en-US">
              <a:cs typeface="Roboto" panose="02000000000000000000" pitchFamily="2" charset="0"/>
              <a:hlinkClick r:id="rId4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5"/>
              </a:rPr>
              <a:t>https://pvcase.com/blog/solar-irradiance-calculator</a:t>
            </a:r>
            <a:r>
              <a:rPr lang="en-US">
                <a:latin typeface="Roboto"/>
                <a:ea typeface="Roboto"/>
                <a:cs typeface="Roboto"/>
              </a:rPr>
              <a:t> </a:t>
            </a:r>
            <a:endParaRPr lang="en-US">
              <a:cs typeface="Roboto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566EF-40D9-F411-AF7C-C077AAB4726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B73E7A-92F8-107E-B5AF-2ABA30FB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Power Subsystem Block Parametrics</a:t>
            </a:r>
            <a:endParaRPr lang="en-US"/>
          </a:p>
        </p:txBody>
      </p:sp>
      <p:pic>
        <p:nvPicPr>
          <p:cNvPr id="15" name="Picture Placeholder 9">
            <a:extLst>
              <a:ext uri="{FF2B5EF4-FFF2-40B4-BE49-F238E27FC236}">
                <a16:creationId xmlns:a16="http://schemas.microsoft.com/office/drawing/2014/main" id="{8C78E4DB-8CA8-B190-3FBB-57841148A8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" t="626" r="55" b="193"/>
          <a:stretch>
            <a:fillRect/>
          </a:stretch>
        </p:blipFill>
        <p:spPr>
          <a:xfrm>
            <a:off x="-1482" y="1275308"/>
            <a:ext cx="7596318" cy="4305752"/>
          </a:xfrm>
          <a:prstGeom prst="rect">
            <a:avLst/>
          </a:prstGeom>
          <a:ln w="19050">
            <a:solidFill>
              <a:srgbClr val="BFB37C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D4CF02-F822-9A4E-2CA4-4A75F46B159E}"/>
              </a:ext>
            </a:extLst>
          </p:cNvPr>
          <p:cNvSpPr txBox="1"/>
          <p:nvPr/>
        </p:nvSpPr>
        <p:spPr>
          <a:xfrm>
            <a:off x="7953264" y="1443979"/>
            <a:ext cx="401625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Assumptions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100% efficiency from all systems except solar panels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Constant irradiance (GSC and distance ratio)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Inputs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Solar panel wattage, performance ratio, area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Daily GSC and distance for irradiance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Battery capacity and voltage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Power consumption of other subsystems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Equations: See footer for sources</a:t>
            </a:r>
          </a:p>
        </p:txBody>
      </p:sp>
    </p:spTree>
    <p:extLst>
      <p:ext uri="{BB962C8B-B14F-4D97-AF65-F5344CB8AC3E}">
        <p14:creationId xmlns:p14="http://schemas.microsoft.com/office/powerpoint/2010/main" val="384787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A683A8E-3A40-5DF6-7601-E45E6C19CF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31369" y="774239"/>
            <a:ext cx="6602341" cy="530352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AB2AF-E8E1-4D4F-648C-8767ACDC472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795FB-7CE2-D382-4C7E-8D91209130D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FD86FC-082A-2D7C-CAF0-1130F78B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Power Example Instance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10E26-54E1-C400-DC0A-CDD1749F60F7}"/>
              </a:ext>
            </a:extLst>
          </p:cNvPr>
          <p:cNvSpPr txBox="1"/>
          <p:nvPr/>
        </p:nvSpPr>
        <p:spPr>
          <a:xfrm>
            <a:off x="8235100" y="2138130"/>
            <a:ext cx="401625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Simple, but clearly highlights important connections and considerations for power system design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Room for improvement in future semesters with development in simulation and test instances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BAB382"/>
                </a:solidFill>
                <a:ea typeface="Roboto"/>
                <a:cs typeface="Roboto"/>
              </a:rPr>
              <a:t>Further improvement in equation complexity</a:t>
            </a:r>
          </a:p>
        </p:txBody>
      </p:sp>
    </p:spTree>
    <p:extLst>
      <p:ext uri="{BB962C8B-B14F-4D97-AF65-F5344CB8AC3E}">
        <p14:creationId xmlns:p14="http://schemas.microsoft.com/office/powerpoint/2010/main" val="9059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BE57-2D82-BAF3-7633-E41CED0D6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Thermal Control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0FF20-E652-0BA4-3A8E-292DA7912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Ryland Marley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3FDF58-9464-2283-E011-0EABD5DA31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0" b="12762"/>
          <a:stretch>
            <a:fillRect/>
          </a:stretch>
        </p:blipFill>
        <p:spPr>
          <a:xfrm>
            <a:off x="1213685" y="1184195"/>
            <a:ext cx="1675119" cy="215147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B5E0F72-4863-5A21-C8E4-33E330B88A43}"/>
              </a:ext>
            </a:extLst>
          </p:cNvPr>
          <p:cNvSpPr txBox="1">
            <a:spLocks/>
          </p:cNvSpPr>
          <p:nvPr/>
        </p:nvSpPr>
        <p:spPr>
          <a:xfrm>
            <a:off x="348343" y="3647375"/>
            <a:ext cx="3403600" cy="9107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"/>
                <a:ea typeface="Roboto"/>
                <a:cs typeface="Roboto"/>
              </a:rPr>
              <a:t>Ryland Marley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wmarley6@gatech.edu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F1963-A71A-3387-662D-FF23CE9044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solar</a:t>
            </a:r>
            <a:r>
              <a:rPr lang="en-US" sz="1600">
                <a:latin typeface="Roboto"/>
                <a:ea typeface="Roboto"/>
                <a:cs typeface="Roboto"/>
              </a:rPr>
              <a:t> = S*A</a:t>
            </a:r>
            <a:r>
              <a:rPr lang="en-US" sz="1600" baseline="-25000">
                <a:latin typeface="Roboto"/>
                <a:ea typeface="Roboto"/>
                <a:cs typeface="Roboto"/>
              </a:rPr>
              <a:t>p</a:t>
            </a:r>
            <a:r>
              <a:rPr lang="en-US" sz="1600">
                <a:latin typeface="Roboto"/>
                <a:ea typeface="Roboto"/>
                <a:cs typeface="Roboto"/>
              </a:rPr>
              <a:t>*⍺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*cos(θ)</a:t>
            </a:r>
          </a:p>
          <a:p>
            <a:pPr marL="685800">
              <a:spcBef>
                <a:spcPts val="500"/>
              </a:spcBef>
              <a:buFont typeface="Courier New" panose="020B0604020202020204" pitchFamily="34" charset="0"/>
            </a:pPr>
            <a:r>
              <a:rPr lang="en-US" sz="1600">
                <a:latin typeface="Roboto"/>
                <a:ea typeface="Roboto"/>
                <a:cs typeface="Roboto"/>
              </a:rPr>
              <a:t>S - solar constant (distance dependent) (W/m</a:t>
            </a:r>
            <a:r>
              <a:rPr lang="en-US" sz="1600" baseline="30000">
                <a:latin typeface="Roboto"/>
                <a:ea typeface="Roboto"/>
                <a:cs typeface="Roboto"/>
              </a:rPr>
              <a:t>2</a:t>
            </a:r>
            <a:r>
              <a:rPr lang="en-US" sz="1600">
                <a:latin typeface="Roboto"/>
                <a:ea typeface="Roboto"/>
                <a:cs typeface="Roboto"/>
              </a:rPr>
              <a:t>)</a:t>
            </a:r>
          </a:p>
          <a:p>
            <a:pPr lvl="1">
              <a:buFont typeface="Courier New" panose="020B0604020202020204" pitchFamily="34" charset="0"/>
            </a:pPr>
            <a:r>
              <a:rPr lang="en-US" sz="1600">
                <a:latin typeface="Roboto"/>
                <a:ea typeface="Roboto"/>
                <a:cs typeface="Roboto"/>
              </a:rPr>
              <a:t>A</a:t>
            </a:r>
            <a:r>
              <a:rPr lang="en-US" sz="1600" baseline="-25000">
                <a:latin typeface="Roboto"/>
                <a:ea typeface="Roboto"/>
                <a:cs typeface="Roboto"/>
              </a:rPr>
              <a:t>p</a:t>
            </a:r>
            <a:r>
              <a:rPr lang="en-US" sz="1600">
                <a:latin typeface="Roboto"/>
                <a:ea typeface="Roboto"/>
                <a:cs typeface="Roboto"/>
              </a:rPr>
              <a:t> - projected area facing sun (m</a:t>
            </a:r>
            <a:r>
              <a:rPr lang="en-US" sz="1600" baseline="30000">
                <a:latin typeface="Roboto"/>
                <a:ea typeface="Roboto"/>
                <a:cs typeface="Roboto"/>
              </a:rPr>
              <a:t>2</a:t>
            </a:r>
            <a:r>
              <a:rPr lang="en-US" sz="1600">
                <a:latin typeface="Roboto"/>
                <a:ea typeface="Roboto"/>
                <a:cs typeface="Roboto"/>
              </a:rPr>
              <a:t>)</a:t>
            </a:r>
            <a:endParaRPr lang="en-US" sz="1600"/>
          </a:p>
          <a:p>
            <a:pPr lvl="1">
              <a:buFont typeface="Courier New" panose="020B0604020202020204" pitchFamily="34" charset="0"/>
            </a:pPr>
            <a:r>
              <a:rPr lang="en-US" sz="1600">
                <a:latin typeface="Roboto"/>
                <a:ea typeface="Roboto"/>
                <a:cs typeface="Roboto"/>
              </a:rPr>
              <a:t>⍺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 - outer surface solar absorptivity</a:t>
            </a:r>
            <a:endParaRPr lang="en-US" sz="1600"/>
          </a:p>
          <a:p>
            <a:pPr lvl="1">
              <a:buFont typeface="Courier New" panose="020B0604020202020204" pitchFamily="34" charset="0"/>
            </a:pPr>
            <a:r>
              <a:rPr lang="en-US" sz="1600">
                <a:latin typeface="Roboto"/>
                <a:ea typeface="Roboto"/>
                <a:cs typeface="Roboto"/>
              </a:rPr>
              <a:t>θ - incidence angle between rays and surface normal (simplified to 90)</a:t>
            </a:r>
            <a:endParaRPr lang="en-US" sz="1600"/>
          </a:p>
          <a:p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albedo</a:t>
            </a:r>
            <a:r>
              <a:rPr lang="en-US" sz="1600">
                <a:latin typeface="Roboto"/>
                <a:ea typeface="Roboto"/>
                <a:cs typeface="Roboto"/>
              </a:rPr>
              <a:t> = S*A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*⍺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*a*</a:t>
            </a:r>
            <a:r>
              <a:rPr lang="en-US" sz="1600" err="1">
                <a:latin typeface="Roboto"/>
                <a:ea typeface="Roboto"/>
                <a:cs typeface="Roboto"/>
              </a:rPr>
              <a:t>F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sat</a:t>
            </a:r>
            <a:r>
              <a:rPr lang="en-US" sz="1600" baseline="-25000">
                <a:latin typeface="Roboto"/>
                <a:ea typeface="Roboto"/>
                <a:cs typeface="Roboto"/>
              </a:rPr>
              <a:t>-planet</a:t>
            </a:r>
          </a:p>
          <a:p>
            <a:pPr marL="685800">
              <a:spcBef>
                <a:spcPts val="500"/>
              </a:spcBef>
            </a:pPr>
            <a:r>
              <a:rPr lang="en-US" sz="1600">
                <a:latin typeface="Roboto"/>
                <a:ea typeface="Roboto"/>
                <a:cs typeface="Roboto"/>
              </a:rPr>
              <a:t>A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 - surface area receiving reflection (m</a:t>
            </a:r>
            <a:r>
              <a:rPr lang="en-US" sz="1600" baseline="30000">
                <a:latin typeface="Roboto"/>
                <a:ea typeface="Roboto"/>
                <a:cs typeface="Roboto"/>
              </a:rPr>
              <a:t>2</a:t>
            </a:r>
            <a:r>
              <a:rPr lang="en-US" sz="1600">
                <a:latin typeface="Roboto"/>
                <a:ea typeface="Roboto"/>
                <a:cs typeface="Roboto"/>
              </a:rPr>
              <a:t>)</a:t>
            </a:r>
          </a:p>
          <a:p>
            <a:pPr lvl="1"/>
            <a:r>
              <a:rPr lang="en-US" sz="1600">
                <a:latin typeface="Roboto"/>
                <a:ea typeface="Roboto"/>
                <a:cs typeface="Roboto"/>
              </a:rPr>
              <a:t>a - planetary albedo coefficient</a:t>
            </a:r>
          </a:p>
          <a:p>
            <a:pPr lvl="1"/>
            <a:r>
              <a:rPr lang="en-US" sz="1600" err="1">
                <a:latin typeface="Roboto"/>
                <a:ea typeface="Roboto"/>
                <a:cs typeface="Roboto"/>
              </a:rPr>
              <a:t>F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sat</a:t>
            </a:r>
            <a:r>
              <a:rPr lang="en-US" sz="1600" baseline="-25000">
                <a:latin typeface="Roboto"/>
                <a:ea typeface="Roboto"/>
                <a:cs typeface="Roboto"/>
              </a:rPr>
              <a:t>-planet</a:t>
            </a:r>
            <a:r>
              <a:rPr lang="en-US" sz="1600">
                <a:latin typeface="Roboto"/>
                <a:ea typeface="Roboto"/>
                <a:cs typeface="Roboto"/>
              </a:rPr>
              <a:t> - view factor between satellite facet and planet</a:t>
            </a:r>
          </a:p>
          <a:p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planet</a:t>
            </a:r>
            <a:r>
              <a:rPr lang="en-US" sz="1600" baseline="-25000">
                <a:latin typeface="Roboto"/>
                <a:ea typeface="Roboto"/>
                <a:cs typeface="Roboto"/>
              </a:rPr>
              <a:t>-IR</a:t>
            </a:r>
            <a:r>
              <a:rPr lang="en-US" sz="1600">
                <a:latin typeface="Roboto"/>
                <a:ea typeface="Roboto"/>
                <a:cs typeface="Roboto"/>
              </a:rPr>
              <a:t> = </a:t>
            </a:r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IR</a:t>
            </a:r>
            <a:r>
              <a:rPr lang="en-US" sz="1600">
                <a:latin typeface="Roboto"/>
                <a:ea typeface="Roboto"/>
                <a:cs typeface="Roboto"/>
              </a:rPr>
              <a:t>*A</a:t>
            </a:r>
            <a:r>
              <a:rPr lang="en-US" sz="1600" baseline="-25000">
                <a:latin typeface="Roboto"/>
                <a:ea typeface="Roboto"/>
                <a:cs typeface="Roboto"/>
              </a:rPr>
              <a:t>s</a:t>
            </a:r>
            <a:r>
              <a:rPr lang="en-US" sz="1600">
                <a:latin typeface="Roboto"/>
                <a:ea typeface="Roboto"/>
                <a:cs typeface="Roboto"/>
              </a:rPr>
              <a:t>*</a:t>
            </a:r>
            <a:r>
              <a:rPr lang="en-US" sz="1600" err="1">
                <a:latin typeface="Roboto"/>
                <a:ea typeface="Roboto"/>
                <a:cs typeface="Roboto"/>
              </a:rPr>
              <a:t>ε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IR</a:t>
            </a:r>
            <a:r>
              <a:rPr lang="en-US" sz="1600">
                <a:latin typeface="Roboto"/>
                <a:ea typeface="Roboto"/>
                <a:cs typeface="Roboto"/>
              </a:rPr>
              <a:t>*</a:t>
            </a:r>
            <a:r>
              <a:rPr lang="en-US" sz="1600" err="1">
                <a:latin typeface="Roboto"/>
                <a:ea typeface="Roboto"/>
                <a:cs typeface="Roboto"/>
              </a:rPr>
              <a:t>F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sat</a:t>
            </a:r>
            <a:r>
              <a:rPr lang="en-US" sz="1600" baseline="-25000">
                <a:latin typeface="Roboto"/>
                <a:ea typeface="Roboto"/>
                <a:cs typeface="Roboto"/>
              </a:rPr>
              <a:t>-planet</a:t>
            </a:r>
          </a:p>
          <a:p>
            <a:pPr lvl="1"/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IR</a:t>
            </a:r>
            <a:r>
              <a:rPr lang="en-US" sz="1600">
                <a:latin typeface="Roboto"/>
                <a:ea typeface="Roboto"/>
                <a:cs typeface="Roboto"/>
              </a:rPr>
              <a:t> - outgoing longwave radiation flux from planet (W/m</a:t>
            </a:r>
            <a:r>
              <a:rPr lang="en-US" sz="1600" baseline="30000">
                <a:latin typeface="Roboto"/>
                <a:ea typeface="Roboto"/>
                <a:cs typeface="Roboto"/>
              </a:rPr>
              <a:t>2</a:t>
            </a:r>
            <a:r>
              <a:rPr lang="en-US" sz="16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pPr lvl="1"/>
            <a:r>
              <a:rPr lang="en-US" sz="1600" err="1">
                <a:latin typeface="Roboto"/>
                <a:ea typeface="Roboto"/>
                <a:cs typeface="Roboto"/>
              </a:rPr>
              <a:t>ε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IR</a:t>
            </a:r>
            <a:r>
              <a:rPr lang="en-US" sz="1600">
                <a:latin typeface="Roboto"/>
                <a:ea typeface="Roboto"/>
                <a:cs typeface="Roboto"/>
              </a:rPr>
              <a:t> - infrared emissivity of satellites outer surface</a:t>
            </a:r>
            <a:endParaRPr lang="en-US">
              <a:latin typeface="Roboto"/>
              <a:ea typeface="Roboto"/>
              <a:cs typeface="Roboto"/>
            </a:endParaRPr>
          </a:p>
          <a:p>
            <a:r>
              <a:rPr lang="en-US" sz="1600" err="1">
                <a:latin typeface="Roboto"/>
                <a:ea typeface="Roboto"/>
                <a:cs typeface="Roboto"/>
              </a:rPr>
              <a:t>Q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internal</a:t>
            </a:r>
            <a:r>
              <a:rPr lang="en-US" sz="1600">
                <a:latin typeface="Roboto"/>
                <a:ea typeface="Roboto"/>
                <a:cs typeface="Roboto"/>
              </a:rPr>
              <a:t> = </a:t>
            </a:r>
            <a:r>
              <a:rPr lang="en-US" sz="1600" err="1">
                <a:latin typeface="Roboto"/>
                <a:ea typeface="Roboto"/>
                <a:cs typeface="Roboto"/>
              </a:rPr>
              <a:t>P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electrical</a:t>
            </a:r>
            <a:r>
              <a:rPr lang="en-US" sz="1600">
                <a:latin typeface="Roboto"/>
                <a:ea typeface="Roboto"/>
                <a:cs typeface="Roboto"/>
              </a:rPr>
              <a:t>*(1-𝜂)</a:t>
            </a:r>
          </a:p>
          <a:p>
            <a:pPr lvl="1"/>
            <a:r>
              <a:rPr lang="en-US" sz="1600" err="1">
                <a:latin typeface="Roboto"/>
                <a:ea typeface="Roboto"/>
                <a:cs typeface="Roboto"/>
              </a:rPr>
              <a:t>P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electrical</a:t>
            </a:r>
            <a:r>
              <a:rPr lang="en-US" sz="1600">
                <a:latin typeface="Roboto"/>
                <a:ea typeface="Roboto"/>
                <a:cs typeface="Roboto"/>
              </a:rPr>
              <a:t> - total power consumed by internal electronics (W)</a:t>
            </a:r>
            <a:endParaRPr lang="en-US">
              <a:latin typeface="Roboto"/>
              <a:ea typeface="Roboto"/>
              <a:cs typeface="Roboto"/>
            </a:endParaRPr>
          </a:p>
          <a:p>
            <a:pPr lvl="1"/>
            <a:r>
              <a:rPr lang="en-US" sz="1600"/>
              <a:t>𝜂 - power efficiency of components</a:t>
            </a:r>
            <a:endParaRPr lang="en-US"/>
          </a:p>
          <a:p>
            <a:r>
              <a:rPr lang="en-US" sz="1600" err="1">
                <a:latin typeface="Roboto"/>
                <a:ea typeface="Roboto"/>
                <a:cs typeface="Roboto"/>
              </a:rPr>
              <a:t>Qradiated</a:t>
            </a:r>
            <a:r>
              <a:rPr lang="en-US" sz="1600">
                <a:latin typeface="Roboto"/>
                <a:ea typeface="Roboto"/>
                <a:cs typeface="Roboto"/>
              </a:rPr>
              <a:t> = </a:t>
            </a:r>
            <a:r>
              <a:rPr lang="en-US" sz="1600" err="1">
                <a:latin typeface="Roboto"/>
                <a:ea typeface="Roboto"/>
                <a:cs typeface="Roboto"/>
              </a:rPr>
              <a:t>ε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IR</a:t>
            </a:r>
            <a:r>
              <a:rPr lang="en-US" sz="1600">
                <a:latin typeface="Roboto"/>
                <a:ea typeface="Roboto"/>
                <a:cs typeface="Roboto"/>
              </a:rPr>
              <a:t>*𝜎*</a:t>
            </a:r>
            <a:r>
              <a:rPr lang="en-US" sz="1600" err="1">
                <a:latin typeface="Roboto"/>
                <a:ea typeface="Roboto"/>
                <a:cs typeface="Roboto"/>
              </a:rPr>
              <a:t>A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r</a:t>
            </a:r>
            <a:r>
              <a:rPr lang="en-US" sz="1600">
                <a:latin typeface="Roboto"/>
                <a:ea typeface="Roboto"/>
                <a:cs typeface="Roboto"/>
              </a:rPr>
              <a:t>*T</a:t>
            </a:r>
            <a:r>
              <a:rPr lang="en-US" sz="1600" baseline="30000">
                <a:latin typeface="Roboto"/>
                <a:ea typeface="Roboto"/>
                <a:cs typeface="Roboto"/>
              </a:rPr>
              <a:t>4</a:t>
            </a:r>
          </a:p>
          <a:p>
            <a:pPr lvl="1"/>
            <a:r>
              <a:rPr lang="en-US" sz="1600"/>
              <a:t>𝜎 - Stefan-Boltzmann constant (5.6704 × 10⁻⁸ W/m²⋅K⁴)</a:t>
            </a:r>
            <a:endParaRPr lang="en-US"/>
          </a:p>
          <a:p>
            <a:pPr lvl="1"/>
            <a:r>
              <a:rPr lang="en-US" sz="1600" err="1">
                <a:latin typeface="Roboto"/>
                <a:ea typeface="Roboto"/>
                <a:cs typeface="Roboto"/>
              </a:rPr>
              <a:t>A</a:t>
            </a:r>
            <a:r>
              <a:rPr lang="en-US" sz="1600" baseline="-25000" err="1">
                <a:latin typeface="Roboto"/>
                <a:ea typeface="Roboto"/>
                <a:cs typeface="Roboto"/>
              </a:rPr>
              <a:t>r</a:t>
            </a:r>
            <a:r>
              <a:rPr lang="en-US" sz="1600">
                <a:latin typeface="Roboto"/>
                <a:ea typeface="Roboto"/>
                <a:cs typeface="Roboto"/>
              </a:rPr>
              <a:t> - radiating surface area of satellite panels (m</a:t>
            </a:r>
            <a:r>
              <a:rPr lang="en-US" sz="1600" baseline="30000">
                <a:latin typeface="Roboto"/>
                <a:ea typeface="Roboto"/>
                <a:cs typeface="Roboto"/>
              </a:rPr>
              <a:t>2</a:t>
            </a:r>
            <a:r>
              <a:rPr lang="en-US" sz="16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pPr lvl="1"/>
            <a:r>
              <a:rPr lang="en-US" sz="1600">
                <a:latin typeface="Roboto"/>
                <a:ea typeface="Roboto"/>
                <a:cs typeface="Roboto"/>
              </a:rPr>
              <a:t>T - absolute temp of satellite surface (K)</a:t>
            </a:r>
            <a:endParaRPr lang="en-US"/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endParaRPr lang="en-US" sz="1600"/>
          </a:p>
          <a:p>
            <a:pPr lvl="1"/>
            <a:endParaRPr lang="en-US" sz="1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D1330-3A5E-A4CE-0330-5F3C391FE68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B1968-6F83-26A0-A459-CAA420F4E8E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8C74F9-D121-A807-0BF0-71EA0F764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Equations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BD2559-D811-BDE9-F491-3E4DC85ADA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8A24F-6662-99D6-D696-3DD993E919AC}"/>
              </a:ext>
            </a:extLst>
          </p:cNvPr>
          <p:cNvSpPr txBox="1"/>
          <p:nvPr/>
        </p:nvSpPr>
        <p:spPr>
          <a:xfrm>
            <a:off x="7864585" y="2583672"/>
            <a:ext cx="39322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Roboto"/>
                <a:cs typeface="Roboto"/>
              </a:rPr>
              <a:t>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80424-4C7E-E0EC-1E62-D2D0D24130A6}"/>
              </a:ext>
            </a:extLst>
          </p:cNvPr>
          <p:cNvSpPr txBox="1"/>
          <p:nvPr/>
        </p:nvSpPr>
        <p:spPr>
          <a:xfrm>
            <a:off x="7679898" y="3023817"/>
            <a:ext cx="4372698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Governing Equation:</a:t>
            </a:r>
            <a:endParaRPr lang="en-US">
              <a:solidFill>
                <a:srgbClr val="003057"/>
              </a:solidFill>
              <a:ea typeface="Roboto"/>
              <a:cs typeface="Roboto"/>
            </a:endParaRPr>
          </a:p>
          <a:p>
            <a:r>
              <a:rPr lang="en-US" sz="1600" err="1">
                <a:solidFill>
                  <a:schemeClr val="bg1"/>
                </a:solidFill>
                <a:ea typeface="Roboto"/>
                <a:cs typeface="Roboto"/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solar</a:t>
            </a:r>
            <a:r>
              <a:rPr lang="en-US" sz="1600">
                <a:solidFill>
                  <a:srgbClr val="FFFFFF"/>
                </a:solidFill>
              </a:rPr>
              <a:t> + </a:t>
            </a:r>
            <a:r>
              <a:rPr lang="en-US" sz="1600" err="1">
                <a:solidFill>
                  <a:srgbClr val="FFFFFF"/>
                </a:solidFill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albedo</a:t>
            </a:r>
            <a:r>
              <a:rPr lang="en-US" sz="1600">
                <a:solidFill>
                  <a:srgbClr val="FFFFFF"/>
                </a:solidFill>
              </a:rPr>
              <a:t> + </a:t>
            </a:r>
            <a:r>
              <a:rPr lang="en-US" sz="1600" err="1">
                <a:solidFill>
                  <a:srgbClr val="FFFFFF"/>
                </a:solidFill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planet</a:t>
            </a:r>
            <a:r>
              <a:rPr lang="en-US" sz="1600" baseline="-25000">
                <a:solidFill>
                  <a:srgbClr val="FFFFFF"/>
                </a:solidFill>
              </a:rPr>
              <a:t>-IR</a:t>
            </a:r>
            <a:r>
              <a:rPr lang="en-US" sz="1600">
                <a:solidFill>
                  <a:srgbClr val="FFFFFF"/>
                </a:solidFill>
              </a:rPr>
              <a:t> + </a:t>
            </a:r>
            <a:r>
              <a:rPr lang="en-US" sz="1600" err="1">
                <a:solidFill>
                  <a:srgbClr val="FFFFFF"/>
                </a:solidFill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internal</a:t>
            </a:r>
            <a:r>
              <a:rPr lang="en-US" sz="1600">
                <a:solidFill>
                  <a:srgbClr val="FFFFFF"/>
                </a:solidFill>
              </a:rPr>
              <a:t> - </a:t>
            </a:r>
            <a:r>
              <a:rPr lang="en-US" sz="1600" err="1">
                <a:solidFill>
                  <a:srgbClr val="FFFFFF"/>
                </a:solidFill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radiated</a:t>
            </a:r>
            <a:r>
              <a:rPr lang="en-US" sz="1600">
                <a:solidFill>
                  <a:srgbClr val="FFFFFF"/>
                </a:solidFill>
              </a:rPr>
              <a:t> + </a:t>
            </a:r>
            <a:r>
              <a:rPr lang="en-US" sz="1600" err="1">
                <a:solidFill>
                  <a:srgbClr val="FFFFFF"/>
                </a:solidFill>
              </a:rPr>
              <a:t>Q</a:t>
            </a:r>
            <a:r>
              <a:rPr lang="en-US" sz="1600" baseline="-25000" err="1">
                <a:solidFill>
                  <a:srgbClr val="FFFFFF"/>
                </a:solidFill>
              </a:rPr>
              <a:t>heat</a:t>
            </a:r>
            <a:r>
              <a:rPr lang="en-US" sz="1600">
                <a:solidFill>
                  <a:srgbClr val="FFFFFF"/>
                </a:solidFill>
              </a:rPr>
              <a:t> = 0</a:t>
            </a:r>
            <a:endParaRPr lang="en-US" sz="1600" baseline="-25000" err="1">
              <a:solidFill>
                <a:srgbClr val="FFFFFF"/>
              </a:solidFill>
              <a:ea typeface="Roboto"/>
              <a:cs typeface="Roboto"/>
            </a:endParaRPr>
          </a:p>
          <a:p>
            <a:r>
              <a:rPr lang="en-US"/>
              <a:t>g</a:t>
            </a:r>
            <a:endParaRPr lang="en-US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0041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F30F-0626-57CB-DF7B-C0368F76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07AE27A-84C5-021A-B1BC-A156FFE434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44194" y="266493"/>
            <a:ext cx="5658110" cy="268173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98363-430E-41DE-57EF-2945C2B3398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9854B-B519-412B-1DFF-EE0ECC055A7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DFB1A5-1E3A-A9CE-09A6-E335244E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Albedo </a:t>
            </a:r>
            <a:r>
              <a:rPr lang="en-US" err="1">
                <a:latin typeface="Roboto"/>
                <a:ea typeface="Roboto"/>
                <a:cs typeface="Roboto"/>
              </a:rPr>
              <a:t>Parametrics</a:t>
            </a:r>
            <a:r>
              <a:rPr lang="en-US">
                <a:latin typeface="Roboto"/>
                <a:ea typeface="Roboto"/>
                <a:cs typeface="Roboto"/>
              </a:rPr>
              <a:t> 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1AC3A4A-CE48-D2CE-639A-EBE04560DB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CE9433-8905-D751-D045-36B7063C1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373" y="3042751"/>
            <a:ext cx="5972945" cy="32288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FAF9F5C-0F45-F83E-5115-CB3D4697FD53}"/>
              </a:ext>
            </a:extLst>
          </p:cNvPr>
          <p:cNvSpPr txBox="1"/>
          <p:nvPr/>
        </p:nvSpPr>
        <p:spPr>
          <a:xfrm>
            <a:off x="1634839" y="1391247"/>
            <a:ext cx="33431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Assumptions: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Near Europa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Treating Satellite shape simply for area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Orbiting at ~25,000m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Gold plating (emittance, absorptivity)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bg1"/>
              </a:solidFill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83889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71A8-A3E1-8E88-5248-0F1FB8D77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AD277-7272-BD9C-05F3-CA37306FDC8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E2CEC-5524-53D9-585F-1CA55FBA41A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3212E8-A2E4-A9B8-4AC3-7C535D70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Internal </a:t>
            </a:r>
            <a:r>
              <a:rPr lang="en-US" err="1">
                <a:latin typeface="Roboto"/>
                <a:ea typeface="Roboto"/>
                <a:cs typeface="Roboto"/>
              </a:rPr>
              <a:t>Parametrics</a:t>
            </a:r>
            <a:r>
              <a:rPr lang="en-US">
                <a:latin typeface="Roboto"/>
                <a:ea typeface="Roboto"/>
                <a:cs typeface="Roboto"/>
              </a:rPr>
              <a:t> 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B20454-D85B-C47F-6399-2D1FD924FA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5FA23F-7A78-378C-0A92-8BE6B0999DDC}"/>
              </a:ext>
            </a:extLst>
          </p:cNvPr>
          <p:cNvSpPr txBox="1"/>
          <p:nvPr/>
        </p:nvSpPr>
        <p:spPr>
          <a:xfrm>
            <a:off x="1634839" y="1391247"/>
            <a:ext cx="33431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Assumptions: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Power (W)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Efficiency similar to that of advanced NASA missions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AC57045-49A9-F229-40A5-9D8ADCBE49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65139" y="696939"/>
            <a:ext cx="4657241" cy="17609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6E985A-470B-3F44-96FA-3E1A2E99C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960" y="2735585"/>
            <a:ext cx="5551945" cy="35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71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C9AE-D37C-ABC4-9259-DEDBC61C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29AC9-8DF4-3273-B10A-4E8B2C91EBE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36BF-A91C-7978-6B84-8B2A5133BB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CC43E4-0AB6-2E02-1368-A0D8B3AD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Planet-IR </a:t>
            </a:r>
            <a:r>
              <a:rPr lang="en-US" err="1">
                <a:latin typeface="Roboto"/>
                <a:ea typeface="Roboto"/>
                <a:cs typeface="Roboto"/>
              </a:rPr>
              <a:t>Parametrics</a:t>
            </a:r>
            <a:r>
              <a:rPr lang="en-US">
                <a:latin typeface="Roboto"/>
                <a:ea typeface="Roboto"/>
                <a:cs typeface="Roboto"/>
              </a:rPr>
              <a:t> 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F87F94-9BB8-1E7A-9379-BE1E0A074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D26A4B-785F-CD1D-02CB-EC75225C5CFB}"/>
              </a:ext>
            </a:extLst>
          </p:cNvPr>
          <p:cNvSpPr txBox="1"/>
          <p:nvPr/>
        </p:nvSpPr>
        <p:spPr>
          <a:xfrm>
            <a:off x="1634839" y="1391247"/>
            <a:ext cx="33431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Assumptions: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Longwave Radiation from values around </a:t>
            </a:r>
            <a:r>
              <a:rPr lang="en-US" err="1">
                <a:solidFill>
                  <a:schemeClr val="bg1"/>
                </a:solidFill>
                <a:ea typeface="Roboto"/>
                <a:cs typeface="Roboto"/>
              </a:rPr>
              <a:t>Europan</a:t>
            </a: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 equator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ECCEA4-7725-3A48-9AFD-034847750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492" y="2789071"/>
            <a:ext cx="6418882" cy="3380742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6A70C9F-9E1B-8ABB-B72D-14F6DF7730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71187" y="226061"/>
            <a:ext cx="5128906" cy="23712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378622-5474-C8A0-F928-68F69F2A8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30" y="3979755"/>
            <a:ext cx="4961395" cy="148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20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1700-EA3D-DC9E-99F3-727B6FA4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19562-7FA9-9101-E6BD-7B970731F04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FE20A-7EFD-B060-4A74-60A4DC0F66A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F75F6A-A6DC-2D02-3D9D-0EDB2DFD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Radiated </a:t>
            </a:r>
            <a:r>
              <a:rPr lang="en-US" err="1">
                <a:latin typeface="Roboto"/>
                <a:ea typeface="Roboto"/>
                <a:cs typeface="Roboto"/>
              </a:rPr>
              <a:t>Parametrics</a:t>
            </a:r>
            <a:r>
              <a:rPr lang="en-US">
                <a:latin typeface="Roboto"/>
                <a:ea typeface="Roboto"/>
                <a:cs typeface="Roboto"/>
              </a:rPr>
              <a:t> 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03BD4E-BB48-FF92-4024-533A948896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688E8F-27CF-4D0D-A211-8DF344EE1FF9}"/>
              </a:ext>
            </a:extLst>
          </p:cNvPr>
          <p:cNvSpPr txBox="1"/>
          <p:nvPr/>
        </p:nvSpPr>
        <p:spPr>
          <a:xfrm>
            <a:off x="1634839" y="1391247"/>
            <a:ext cx="33431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Assumptions: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Surface is facing sun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76F155-4F98-2EB2-6BD4-9D5D333AF4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69832" y="204367"/>
            <a:ext cx="5697178" cy="2509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9A84E3-EE12-E36B-F814-467A5B219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551" y="2923153"/>
            <a:ext cx="5694085" cy="343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4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5DEF-2DDA-F5CF-3495-9B81AFF1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2A15F-536D-7FFB-02D6-2F99E89A29E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2F6F9-1DBB-130C-2A43-52092464DA7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6B37DA-5373-7F40-2052-5717FF83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Solar Parametrics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58781C-D592-CDE6-20C5-70826598B7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C3F60-557E-6756-2313-E288E623C318}"/>
              </a:ext>
            </a:extLst>
          </p:cNvPr>
          <p:cNvSpPr txBox="1"/>
          <p:nvPr/>
        </p:nvSpPr>
        <p:spPr>
          <a:xfrm>
            <a:off x="1634839" y="1391247"/>
            <a:ext cx="334315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Assumptions: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Solar constant value near Europa (W/m</a:t>
            </a:r>
            <a:r>
              <a:rPr lang="en-US" baseline="30000">
                <a:solidFill>
                  <a:schemeClr val="bg1"/>
                </a:solidFill>
                <a:ea typeface="Roboto"/>
                <a:cs typeface="Roboto"/>
              </a:rPr>
              <a:t>2</a:t>
            </a: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)</a:t>
            </a:r>
            <a:endParaRPr lang="en-US" baseline="30000">
              <a:solidFill>
                <a:schemeClr val="bg1"/>
              </a:solidFill>
              <a:ea typeface="Roboto"/>
              <a:cs typeface="Roboto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9926E05-EC52-AE8C-5708-5809819D05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33425" y="208479"/>
            <a:ext cx="5197788" cy="25398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D42560-C0F8-FF0C-186E-5B72207E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071" y="2998384"/>
            <a:ext cx="6024536" cy="324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2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311D-0686-7B7B-0307-17EDC379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62DFE-0AB9-18DE-EB99-0A581ADDCD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8B11C-2CDF-3692-492C-F8DDDC56199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C895D8-88AE-A953-B387-9F59656A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Heating </a:t>
            </a:r>
            <a:r>
              <a:rPr lang="en-US" err="1">
                <a:latin typeface="Roboto"/>
                <a:ea typeface="Roboto"/>
                <a:cs typeface="Roboto"/>
              </a:rPr>
              <a:t>Parametrics</a:t>
            </a:r>
            <a:endParaRPr lang="en-US" err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7C2CF7-3FD3-B706-59DF-217B3AB5B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B1258D-70BB-9329-029B-740F093BCC1F}"/>
              </a:ext>
            </a:extLst>
          </p:cNvPr>
          <p:cNvSpPr txBox="1"/>
          <p:nvPr/>
        </p:nvSpPr>
        <p:spPr>
          <a:xfrm>
            <a:off x="1634839" y="1391247"/>
            <a:ext cx="334315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Calculations put together to determine how much power needed to maintain current temperature (W)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31DBF4-C597-22B8-18F0-DEADE5A004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81900" y="135406"/>
            <a:ext cx="5409584" cy="3211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38AE0-A4BC-CC18-1C31-08762E391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899" y="3492145"/>
            <a:ext cx="5953933" cy="30207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EEE5EC-999B-2515-5754-B9CD51192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39" y="2780008"/>
            <a:ext cx="5078601" cy="7124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BD0BEE-5C99-1F8E-8AC5-CB95C390A1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10" r="85" b="1087"/>
          <a:stretch>
            <a:fillRect/>
          </a:stretch>
        </p:blipFill>
        <p:spPr>
          <a:xfrm>
            <a:off x="657494" y="3488910"/>
            <a:ext cx="5004882" cy="373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B354CA-6004-1498-A73A-60F142256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33" y="3863573"/>
            <a:ext cx="5003693" cy="3707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870061-28AA-B82A-A115-93434293F1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379" y="4237549"/>
            <a:ext cx="4717243" cy="203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F4B8A6-2743-EF3F-3DE9-67CFF27974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4" y="4444758"/>
            <a:ext cx="5007837" cy="3664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754129-2826-F540-A67D-49B9D6B02C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42" y="4814996"/>
            <a:ext cx="5011067" cy="36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86B9E-2928-78A2-3E88-7A199119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B69A-E74E-4179-F841-115EA890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Radiation Shielding &amp; Structural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1B1509-9622-49DA-CCA7-638B7830A4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Aaditya Patel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90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0AC2-B498-C89C-5579-F25FD523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D68BE-6BB4-21EF-FB6F-0C61DCBCC6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8503D-6F59-E89B-2343-1A999248013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55444E-C6DF-1793-9511-D15A712BC175}"/>
              </a:ext>
            </a:extLst>
          </p:cNvPr>
          <p:cNvSpPr txBox="1"/>
          <p:nvPr/>
        </p:nvSpPr>
        <p:spPr>
          <a:xfrm>
            <a:off x="1057983" y="135604"/>
            <a:ext cx="100760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BAB382"/>
                </a:solidFill>
              </a:rPr>
              <a:t>Radiation Shielding &amp; Structural Architecture</a:t>
            </a:r>
            <a:endParaRPr lang="en-US" b="1">
              <a:solidFill>
                <a:srgbClr val="BAB382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1ED322-7F54-8C9A-B678-07C2105BA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0" y="853252"/>
            <a:ext cx="7427934" cy="40500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A1AD7E-71CA-6991-CAD1-8F44E3327BC9}"/>
              </a:ext>
            </a:extLst>
          </p:cNvPr>
          <p:cNvSpPr txBox="1"/>
          <p:nvPr/>
        </p:nvSpPr>
        <p:spPr>
          <a:xfrm>
            <a:off x="7814152" y="862326"/>
            <a:ext cx="742793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Reduce radiation exposure to electronics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Evaluate structural stress and safety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Calculate subsystem mass 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</a:rPr>
              <a:t>Key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Shielded dose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Radiation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Applied stress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Factor of safety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Total subsystem mass 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r>
              <a:rPr lang="en-US" sz="1600" b="1">
                <a:solidFill>
                  <a:schemeClr val="bg1"/>
                </a:solidFill>
              </a:rPr>
              <a:t>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Uniform structural loading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Constant radiation transmission factor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Preliminary conceptual analysis</a:t>
            </a:r>
          </a:p>
        </p:txBody>
      </p:sp>
    </p:spTree>
    <p:extLst>
      <p:ext uri="{BB962C8B-B14F-4D97-AF65-F5344CB8AC3E}">
        <p14:creationId xmlns:p14="http://schemas.microsoft.com/office/powerpoint/2010/main" val="493680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6ADC-2AE6-78BB-93D2-449F5154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99E4E-189C-02DC-3001-5AB10775B8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2C5AF-6D42-AA97-7C5C-6C75071AC0F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5036A7-E4A8-CE73-7501-D421D8EB5543}"/>
              </a:ext>
            </a:extLst>
          </p:cNvPr>
          <p:cNvSpPr txBox="1"/>
          <p:nvPr/>
        </p:nvSpPr>
        <p:spPr>
          <a:xfrm>
            <a:off x="1057983" y="135604"/>
            <a:ext cx="100760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BAB382"/>
                </a:solidFill>
              </a:rPr>
              <a:t>Radiation and Structural Equations</a:t>
            </a:r>
            <a:endParaRPr lang="en-US" b="1">
              <a:solidFill>
                <a:srgbClr val="BAB3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205B71-5AE3-B72F-43C1-C881636F30E7}"/>
                  </a:ext>
                </a:extLst>
              </p:cNvPr>
              <p:cNvSpPr txBox="1"/>
              <p:nvPr/>
            </p:nvSpPr>
            <p:spPr>
              <a:xfrm>
                <a:off x="1057983" y="787633"/>
                <a:ext cx="4858012" cy="4617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Shielded radiation dose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𝑠h𝑖𝑒𝑙𝑑𝑒𝑑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𝑢𝑛𝑠h𝑖𝑒𝑙𝑑𝑒𝑑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600">
                  <a:solidFill>
                    <a:srgbClr val="BAB382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𝑢𝑛𝑠h𝑖𝑒𝑙𝑑𝑒𝑑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 : </a:t>
                </a:r>
                <a:r>
                  <a:rPr lang="en-US" sz="1400">
                    <a:solidFill>
                      <a:schemeClr val="bg1"/>
                    </a:solidFill>
                  </a:rPr>
                  <a:t>dose before shielding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 : </a:t>
                </a:r>
                <a:r>
                  <a:rPr lang="en-US" sz="1400">
                    <a:solidFill>
                      <a:schemeClr val="bg1"/>
                    </a:solidFill>
                  </a:rPr>
                  <a:t>radiation transmission factor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𝑠h𝑖𝑒𝑙𝑑𝑒𝑑</m:t>
                        </m:r>
                      </m:sub>
                    </m:sSub>
                  </m:oMath>
                </a14:m>
                <a:r>
                  <a:rPr lang="en-US" sz="1400">
                    <a:solidFill>
                      <a:schemeClr val="bg1"/>
                    </a:solidFill>
                  </a:rPr>
                  <a:t> : dose reaching protected electronics</a:t>
                </a:r>
              </a:p>
              <a:p>
                <a:pPr lvl="1"/>
                <a:endParaRPr lang="en-US" sz="1400">
                  <a:solidFill>
                    <a:schemeClr val="bg1"/>
                  </a:solidFill>
                </a:endParaRPr>
              </a:p>
              <a:p>
                <a:r>
                  <a:rPr lang="en-US" b="1">
                    <a:solidFill>
                      <a:schemeClr val="bg1"/>
                    </a:solidFill>
                  </a:rPr>
                  <a:t>Radiation factor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  <m:t>𝑟𝑎𝑡𝑖𝑛𝑔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  <m:t>𝑠h𝑖𝑒𝑙𝑑𝑒𝑑</m:t>
                            </m:r>
                          </m:sub>
                        </m:sSub>
                      </m:den>
                    </m:f>
                  </m:oMath>
                </a14:m>
                <a:endParaRPr lang="en-US" sz="1600">
                  <a:solidFill>
                    <a:srgbClr val="BAB382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𝑟𝑎𝑡𝑖𝑛𝑔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 : </a:t>
                </a:r>
                <a:r>
                  <a:rPr lang="en-US" sz="1400">
                    <a:solidFill>
                      <a:schemeClr val="bg1"/>
                    </a:solidFill>
                  </a:rPr>
                  <a:t>qualified electronics dose rating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𝑅𝐹</m:t>
                    </m:r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>
                    <a:solidFill>
                      <a:srgbClr val="BAB382"/>
                    </a:solidFill>
                  </a:rPr>
                  <a:t> </a:t>
                </a:r>
                <a:r>
                  <a:rPr lang="en-US" sz="1600">
                    <a:solidFill>
                      <a:schemeClr val="bg1"/>
                    </a:solidFill>
                  </a:rPr>
                  <a:t>: </a:t>
                </a:r>
                <a:r>
                  <a:rPr lang="en-US" sz="1400">
                    <a:solidFill>
                      <a:schemeClr val="bg1"/>
                    </a:solidFill>
                  </a:rPr>
                  <a:t>rating exceeds predicted shielded dose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>
                  <a:solidFill>
                    <a:schemeClr val="bg1"/>
                  </a:solidFill>
                </a:endParaRPr>
              </a:p>
              <a:p>
                <a:r>
                  <a:rPr lang="en-US" b="1">
                    <a:solidFill>
                      <a:schemeClr val="bg1"/>
                    </a:solidFill>
                  </a:rPr>
                  <a:t>Applied Stress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sz="1600">
                  <a:solidFill>
                    <a:srgbClr val="BAB382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 : </a:t>
                </a:r>
                <a:r>
                  <a:rPr lang="en-US" sz="1400">
                    <a:solidFill>
                      <a:schemeClr val="bg1"/>
                    </a:solidFill>
                  </a:rPr>
                  <a:t>applied force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>
                    <a:solidFill>
                      <a:srgbClr val="BAB382"/>
                    </a:solidFill>
                  </a:rPr>
                  <a:t> </a:t>
                </a:r>
                <a:r>
                  <a:rPr lang="en-US" sz="1600">
                    <a:solidFill>
                      <a:schemeClr val="bg1"/>
                    </a:solidFill>
                  </a:rPr>
                  <a:t>: </a:t>
                </a:r>
                <a:r>
                  <a:rPr lang="en-US" sz="1400">
                    <a:solidFill>
                      <a:schemeClr val="bg1"/>
                    </a:solidFill>
                  </a:rPr>
                  <a:t>load-bearing area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>
                  <a:solidFill>
                    <a:schemeClr val="bg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205B71-5AE3-B72F-43C1-C881636F3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83" y="787633"/>
                <a:ext cx="4858012" cy="4617803"/>
              </a:xfrm>
              <a:prstGeom prst="rect">
                <a:avLst/>
              </a:prstGeom>
              <a:blipFill>
                <a:blip r:embed="rId2"/>
                <a:stretch>
                  <a:fillRect l="-1131" t="-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130901-4011-4100-F47F-7E4CF38812E2}"/>
                  </a:ext>
                </a:extLst>
              </p:cNvPr>
              <p:cNvSpPr txBox="1"/>
              <p:nvPr/>
            </p:nvSpPr>
            <p:spPr>
              <a:xfrm>
                <a:off x="6276004" y="787633"/>
                <a:ext cx="4858012" cy="1982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solidFill>
                      <a:schemeClr val="bg1"/>
                    </a:solidFill>
                  </a:rPr>
                  <a:t>Structural factor of safety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BAB38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en-US" sz="1600">
                  <a:solidFill>
                    <a:srgbClr val="BAB382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: </a:t>
                </a:r>
                <a:r>
                  <a:rPr lang="en-US" sz="1400">
                    <a:solidFill>
                      <a:schemeClr val="bg1"/>
                    </a:solidFill>
                  </a:rPr>
                  <a:t>material yield strength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𝐹𝑆</m:t>
                    </m:r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600">
                    <a:solidFill>
                      <a:schemeClr val="bg1"/>
                    </a:solidFill>
                  </a:rPr>
                  <a:t> : </a:t>
                </a:r>
                <a:r>
                  <a:rPr lang="en-US" sz="1400">
                    <a:solidFill>
                      <a:schemeClr val="bg1"/>
                    </a:solidFill>
                  </a:rPr>
                  <a:t>predicted stress is below yield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400">
                  <a:solidFill>
                    <a:schemeClr val="bg1"/>
                  </a:solidFill>
                </a:endParaRPr>
              </a:p>
              <a:p>
                <a:r>
                  <a:rPr lang="en-US" b="1">
                    <a:solidFill>
                      <a:schemeClr val="bg1"/>
                    </a:solidFill>
                  </a:rPr>
                  <a:t>Subsystem Mass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𝑠𝑢𝑏𝑠𝑦𝑠𝑡𝑒𝑚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𝑠h𝑖𝑒𝑙𝑑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BAB38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BAB382"/>
                            </a:solidFill>
                            <a:latin typeface="Cambria Math" panose="02040503050406030204" pitchFamily="18" charset="0"/>
                          </a:rPr>
                          <m:t>𝑠𝑡𝑟𝑢𝑐𝑡𝑢𝑟𝑒</m:t>
                        </m:r>
                      </m:sub>
                    </m:sSub>
                  </m:oMath>
                </a14:m>
                <a:endParaRPr lang="en-US" sz="1600">
                  <a:solidFill>
                    <a:srgbClr val="BAB382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130901-4011-4100-F47F-7E4CF3881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004" y="787633"/>
                <a:ext cx="4858012" cy="1982146"/>
              </a:xfrm>
              <a:prstGeom prst="rect">
                <a:avLst/>
              </a:prstGeom>
              <a:blipFill>
                <a:blip r:embed="rId3"/>
                <a:stretch>
                  <a:fillRect l="-1131" t="-1538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892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4570-26BD-A880-F5B9-FC120FCC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48B3B-C5A2-80A9-3B61-2F938BFA5B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C3957-7A93-1707-BA27-F83C5B48D75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069D9-003D-8EEF-6436-3AC13DE16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64" y="730344"/>
            <a:ext cx="4006558" cy="45973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09F417-FAC2-4066-DA05-377FF761277B}"/>
              </a:ext>
            </a:extLst>
          </p:cNvPr>
          <p:cNvSpPr txBox="1"/>
          <p:nvPr/>
        </p:nvSpPr>
        <p:spPr>
          <a:xfrm>
            <a:off x="1057983" y="135604"/>
            <a:ext cx="100760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BAB382"/>
                </a:solidFill>
              </a:rPr>
              <a:t>Radiation Shielding &amp; Structural </a:t>
            </a:r>
            <a:r>
              <a:rPr lang="en-US" sz="2800" b="1" err="1">
                <a:solidFill>
                  <a:srgbClr val="BAB382"/>
                </a:solidFill>
              </a:rPr>
              <a:t>Parametrics</a:t>
            </a:r>
            <a:endParaRPr lang="en-US" b="1">
              <a:solidFill>
                <a:srgbClr val="BAB38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0200E-0116-B176-2C4B-2E4A89E91E66}"/>
              </a:ext>
            </a:extLst>
          </p:cNvPr>
          <p:cNvSpPr txBox="1"/>
          <p:nvPr/>
        </p:nvSpPr>
        <p:spPr>
          <a:xfrm>
            <a:off x="4450914" y="1013102"/>
            <a:ext cx="74279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Calculation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Shielded dose is calculated from unshielded dose and transmission factor.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Structural stress is calculated from applied force and load area.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Radiation factor, factor of safety, and subsystem mass are then determined.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model assumes constant radiation transmission and uniform loading.</a:t>
            </a:r>
          </a:p>
        </p:txBody>
      </p:sp>
    </p:spTree>
    <p:extLst>
      <p:ext uri="{BB962C8B-B14F-4D97-AF65-F5344CB8AC3E}">
        <p14:creationId xmlns:p14="http://schemas.microsoft.com/office/powerpoint/2010/main" val="2701371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0211-E0EC-BA83-5BB5-A06DF61B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36DAB-E860-1154-6AE7-8165F7BAFD2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EE9A6-A66E-B45E-CBD4-40DDF8B207B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E7AB0-DFF7-888E-44F9-4B9635631FEF}"/>
              </a:ext>
            </a:extLst>
          </p:cNvPr>
          <p:cNvSpPr txBox="1"/>
          <p:nvPr/>
        </p:nvSpPr>
        <p:spPr>
          <a:xfrm>
            <a:off x="1057983" y="135604"/>
            <a:ext cx="100760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BAB382"/>
                </a:solidFill>
              </a:rPr>
              <a:t>Radiation &amp; Structural Example Instance</a:t>
            </a:r>
            <a:endParaRPr lang="en-US" sz="2800">
              <a:solidFill>
                <a:srgbClr val="BAB38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3B6CF-5092-72CD-5F96-7971D3A63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6" y="1703772"/>
            <a:ext cx="4144512" cy="34504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B8AD00-FEA1-5440-9662-7696D553D40D}"/>
              </a:ext>
            </a:extLst>
          </p:cNvPr>
          <p:cNvSpPr txBox="1"/>
          <p:nvPr/>
        </p:nvSpPr>
        <p:spPr>
          <a:xfrm>
            <a:off x="4764066" y="1997839"/>
            <a:ext cx="74279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Shielding reduced the modeled dose from </a:t>
            </a:r>
            <a:r>
              <a:rPr lang="en-US" b="1">
                <a:solidFill>
                  <a:schemeClr val="bg1"/>
                </a:solidFill>
              </a:rPr>
              <a:t>1,000 Gy to 50 Gy</a:t>
            </a:r>
            <a:r>
              <a:rPr lang="en-US">
                <a:solidFill>
                  <a:schemeClr val="bg1"/>
                </a:solidFill>
              </a:rPr>
              <a:t>, a </a:t>
            </a:r>
            <a:r>
              <a:rPr lang="en-US" b="1">
                <a:solidFill>
                  <a:schemeClr val="bg1"/>
                </a:solidFill>
              </a:rPr>
              <a:t>95% reduction</a:t>
            </a:r>
            <a:r>
              <a:rPr lang="en-US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electronics rating was </a:t>
            </a:r>
            <a:r>
              <a:rPr lang="en-US" b="1">
                <a:solidFill>
                  <a:schemeClr val="bg1"/>
                </a:solidFill>
              </a:rPr>
              <a:t>twice the calculated shielded dose</a:t>
            </a:r>
            <a:r>
              <a:rPr lang="en-US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The structural case produced </a:t>
            </a:r>
            <a:r>
              <a:rPr lang="en-US" b="1">
                <a:solidFill>
                  <a:schemeClr val="bg1"/>
                </a:solidFill>
              </a:rPr>
              <a:t>stress of 50 MPa</a:t>
            </a:r>
            <a:r>
              <a:rPr lang="en-US">
                <a:solidFill>
                  <a:schemeClr val="bg1"/>
                </a:solidFill>
              </a:rPr>
              <a:t> and a </a:t>
            </a:r>
            <a:r>
              <a:rPr lang="en-US" b="1">
                <a:solidFill>
                  <a:schemeClr val="bg1"/>
                </a:solidFill>
              </a:rPr>
              <a:t>factor of safety of 5</a:t>
            </a:r>
            <a:r>
              <a:rPr lang="en-US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Shielding and structure contributed </a:t>
            </a:r>
            <a:r>
              <a:rPr lang="en-US" b="1">
                <a:solidFill>
                  <a:schemeClr val="bg1"/>
                </a:solidFill>
              </a:rPr>
              <a:t>100 kg</a:t>
            </a:r>
            <a:r>
              <a:rPr lang="en-US">
                <a:solidFill>
                  <a:schemeClr val="bg1"/>
                </a:solidFill>
              </a:rPr>
              <a:t> to the total vehicle mass. </a:t>
            </a:r>
          </a:p>
          <a:p>
            <a:endParaRPr lang="en-US" b="1">
              <a:solidFill>
                <a:schemeClr val="bg1"/>
              </a:solidFill>
            </a:endParaRPr>
          </a:p>
          <a:p>
            <a:endParaRPr lang="en-US" b="1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Values shown are for model verification and are not final Europa design inputs.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564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D9CC-F3CD-DC58-2841-A29B8E6F1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96AF-2601-73CC-3252-3D1C583D76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Communication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2E61F-32BC-9141-3A07-443217D5A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By Anish Kulkarni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D1C49E-F105-B733-89D8-73DDD3A24D46}"/>
              </a:ext>
            </a:extLst>
          </p:cNvPr>
          <p:cNvSpPr txBox="1">
            <a:spLocks/>
          </p:cNvSpPr>
          <p:nvPr/>
        </p:nvSpPr>
        <p:spPr>
          <a:xfrm>
            <a:off x="348343" y="3647375"/>
            <a:ext cx="3403600" cy="9107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"/>
                <a:ea typeface="Roboto"/>
                <a:cs typeface="Roboto"/>
              </a:rPr>
              <a:t>Anish Kulkarni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akulkarni367@gatech.edu</a:t>
            </a:r>
            <a:endParaRPr lang="en-US"/>
          </a:p>
        </p:txBody>
      </p:sp>
      <p:pic>
        <p:nvPicPr>
          <p:cNvPr id="7" name="Picture 6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94F2F118-D142-2868-B5A9-5ABC95AA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23" y="740001"/>
            <a:ext cx="1482725" cy="267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10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1A6A-7227-1A97-0C2D-A33764EC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9784-BF94-3FFB-060D-A69AB4E6F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80776" y="1071235"/>
            <a:ext cx="5311951" cy="53823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u="sng">
                <a:latin typeface="Roboto"/>
                <a:ea typeface="Roboto"/>
                <a:cs typeface="Roboto"/>
              </a:rPr>
              <a:t>OBJECTIVES: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Close the RF link from the Europa lander to Earth across 5 AU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Verify enough signal arrives to decode science data reliably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Report the radio's power draw to the power subsystem</a:t>
            </a:r>
          </a:p>
          <a:p>
            <a:r>
              <a:rPr lang="en-US" sz="1800" u="sng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Key Outputs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Transmit antenna gain</a:t>
            </a:r>
            <a:endParaRPr lang="en-US" sz="160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Free space path loss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Received power at the DSN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Energy per bit to noise density (Eb/N0)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Link margin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Comm power draw and daily energy demand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13F79-60EB-6AE2-7FC1-C5222C2C09A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6EFB6-343C-234B-A450-2EEB332C489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CB5FEF-631E-A939-F87D-AB247408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Communication System Architecture</a:t>
            </a:r>
            <a:endParaRPr lang="en-US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591115-4BBC-C2C3-8488-5FE87A9C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3" y="1074056"/>
            <a:ext cx="6755702" cy="412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34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100D-BA9B-E52F-6785-A3394570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D9A9D-C482-9B93-78C4-1C2D73DBD1D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76ED8-1FAA-C36D-C0DB-FBD54A8451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B837B6-59C6-0985-F4A0-5CD99FD9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Communication Equations Used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3DB8D9-9F5D-194C-93A6-D592D36F2330}"/>
              </a:ext>
            </a:extLst>
          </p:cNvPr>
          <p:cNvSpPr txBox="1">
            <a:spLocks/>
          </p:cNvSpPr>
          <p:nvPr/>
        </p:nvSpPr>
        <p:spPr>
          <a:xfrm>
            <a:off x="639633" y="947863"/>
            <a:ext cx="5311951" cy="53823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Roboto"/>
                <a:ea typeface="Roboto"/>
                <a:cs typeface="Roboto"/>
              </a:rPr>
              <a:t>Antenna Gain: G = η(πD/λ)²</a:t>
            </a:r>
            <a:endParaRPr lang="en-US" sz="1800" u="sng">
              <a:latin typeface="Roboto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η = aperture efficiency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D = antenna diameter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λ = wavelength (λ = c/f)</a:t>
            </a:r>
            <a:endParaRPr lang="en-US"/>
          </a:p>
          <a:p>
            <a:r>
              <a:rPr lang="en-US" sz="1800">
                <a:latin typeface="Roboto"/>
                <a:ea typeface="Roboto"/>
                <a:cs typeface="Roboto"/>
              </a:rPr>
              <a:t>Free-Space Path Loss: </a:t>
            </a:r>
            <a:r>
              <a:rPr lang="en-US" sz="1800" err="1">
                <a:latin typeface="Roboto"/>
                <a:ea typeface="Roboto"/>
                <a:cs typeface="Roboto"/>
              </a:rPr>
              <a:t>Lfs</a:t>
            </a:r>
            <a:r>
              <a:rPr lang="en-US" sz="1800">
                <a:latin typeface="Roboto"/>
                <a:ea typeface="Roboto"/>
                <a:cs typeface="Roboto"/>
              </a:rPr>
              <a:t> = (4πd/λ)²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d = range, Europa to Earth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λ = wavelength</a:t>
            </a:r>
            <a:endParaRPr lang="en-US"/>
          </a:p>
          <a:p>
            <a:r>
              <a:rPr lang="en-US" sz="1800">
                <a:latin typeface="Roboto"/>
                <a:ea typeface="Roboto"/>
                <a:cs typeface="Roboto"/>
              </a:rPr>
              <a:t>Received Power: </a:t>
            </a:r>
            <a:r>
              <a:rPr lang="en-US" sz="1800" err="1">
                <a:latin typeface="Roboto"/>
                <a:ea typeface="Roboto"/>
                <a:cs typeface="Roboto"/>
              </a:rPr>
              <a:t>Pr</a:t>
            </a:r>
            <a:r>
              <a:rPr lang="en-US" sz="1800">
                <a:latin typeface="Roboto"/>
                <a:ea typeface="Roboto"/>
                <a:cs typeface="Roboto"/>
              </a:rPr>
              <a:t> = (</a:t>
            </a:r>
            <a:r>
              <a:rPr lang="en-US" sz="1800" err="1">
                <a:latin typeface="Roboto"/>
                <a:ea typeface="Roboto"/>
                <a:cs typeface="Roboto"/>
              </a:rPr>
              <a:t>Pt·Gt·Gr</a:t>
            </a:r>
            <a:r>
              <a:rPr lang="en-US" sz="1800">
                <a:latin typeface="Roboto"/>
                <a:ea typeface="Roboto"/>
                <a:cs typeface="Roboto"/>
              </a:rPr>
              <a:t>)/(</a:t>
            </a:r>
            <a:r>
              <a:rPr lang="en-US" sz="1800" err="1">
                <a:latin typeface="Roboto"/>
                <a:ea typeface="Roboto"/>
                <a:cs typeface="Roboto"/>
              </a:rPr>
              <a:t>Lfs·Ll·La</a:t>
            </a:r>
            <a:r>
              <a:rPr lang="en-US" sz="1800">
                <a:latin typeface="Roboto"/>
                <a:ea typeface="Roboto"/>
                <a:cs typeface="Roboto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Pt = transmit power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Gt, Gr = spacecraft and DSN antenna gain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Ll</a:t>
            </a:r>
            <a:r>
              <a:rPr lang="en-US" sz="1400">
                <a:latin typeface="Roboto"/>
                <a:ea typeface="Roboto"/>
                <a:cs typeface="Roboto"/>
              </a:rPr>
              <a:t> = line and pointing loss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La = atmospheric loss at receiver</a:t>
            </a:r>
            <a:endParaRPr lang="en-US"/>
          </a:p>
          <a:p>
            <a:r>
              <a:rPr lang="en-US" sz="1800">
                <a:latin typeface="Roboto"/>
                <a:ea typeface="Roboto"/>
                <a:cs typeface="Roboto"/>
              </a:rPr>
              <a:t>Link Quality: Eb/N0 = </a:t>
            </a:r>
            <a:r>
              <a:rPr lang="en-US" sz="1800" err="1">
                <a:latin typeface="Roboto"/>
                <a:ea typeface="Roboto"/>
                <a:cs typeface="Roboto"/>
              </a:rPr>
              <a:t>Pr</a:t>
            </a:r>
            <a:r>
              <a:rPr lang="en-US" sz="1800">
                <a:latin typeface="Roboto"/>
                <a:ea typeface="Roboto"/>
                <a:cs typeface="Roboto"/>
              </a:rPr>
              <a:t>/(</a:t>
            </a:r>
            <a:r>
              <a:rPr lang="en-US" sz="1800" err="1">
                <a:latin typeface="Roboto"/>
                <a:ea typeface="Roboto"/>
                <a:cs typeface="Roboto"/>
              </a:rPr>
              <a:t>R·k·Ts</a:t>
            </a:r>
            <a:r>
              <a:rPr lang="en-US" sz="1800">
                <a:latin typeface="Roboto"/>
                <a:ea typeface="Roboto"/>
                <a:cs typeface="Roboto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R = data rate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k = Boltzmann constant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Ts = system noise temperature</a:t>
            </a:r>
            <a:endParaRPr lang="en-US"/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D43887-1DB5-27CD-AD93-7DFD49B90532}"/>
              </a:ext>
            </a:extLst>
          </p:cNvPr>
          <p:cNvSpPr txBox="1">
            <a:spLocks/>
          </p:cNvSpPr>
          <p:nvPr/>
        </p:nvSpPr>
        <p:spPr>
          <a:xfrm>
            <a:off x="5567232" y="831748"/>
            <a:ext cx="6494865" cy="5346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Link Margin: M = (Eb/N0)actual − (Eb/N0)required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latin typeface="Roboto"/>
                <a:ea typeface="Roboto"/>
                <a:cs typeface="Roboto"/>
              </a:rPr>
              <a:t>M &gt; 0 : link closes with margin to spare</a:t>
            </a:r>
            <a:endParaRPr lang="en-US">
              <a:latin typeface="Roboto"/>
              <a:ea typeface="Roboto"/>
              <a:cs typeface="Roboto"/>
            </a:endParaRPr>
          </a:p>
          <a:p>
            <a:r>
              <a:rPr lang="en-US" sz="1800">
                <a:latin typeface="Roboto"/>
                <a:ea typeface="Roboto"/>
                <a:cs typeface="Roboto"/>
              </a:rPr>
              <a:t>Comm Power Draw: </a:t>
            </a:r>
            <a:r>
              <a:rPr lang="en-US" sz="1800" err="1">
                <a:latin typeface="Roboto"/>
                <a:ea typeface="Roboto"/>
                <a:cs typeface="Roboto"/>
              </a:rPr>
              <a:t>Pcomm</a:t>
            </a:r>
            <a:r>
              <a:rPr lang="en-US" sz="1800">
                <a:latin typeface="Roboto"/>
                <a:ea typeface="Roboto"/>
                <a:cs typeface="Roboto"/>
              </a:rPr>
              <a:t> = Pt/</a:t>
            </a:r>
            <a:r>
              <a:rPr lang="en-US" sz="1800" err="1">
                <a:latin typeface="Roboto"/>
                <a:ea typeface="Roboto"/>
                <a:cs typeface="Roboto"/>
              </a:rPr>
              <a:t>ηpa</a:t>
            </a:r>
            <a:endParaRPr lang="en-US" sz="1800">
              <a:latin typeface="Roboto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ηpa</a:t>
            </a:r>
            <a:r>
              <a:rPr lang="en-US" sz="1400">
                <a:latin typeface="Roboto"/>
                <a:ea typeface="Roboto"/>
                <a:cs typeface="Roboto"/>
              </a:rPr>
              <a:t> = power amplifier efficiency</a:t>
            </a:r>
            <a:endParaRPr lang="en-US">
              <a:latin typeface="Roboto"/>
              <a:ea typeface="Roboto"/>
              <a:cs typeface="Roboto"/>
            </a:endParaRP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63142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35A01-61DA-221B-43D9-BDDA7A459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1EC8-5B50-3F0E-48F9-083349595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9005" y="1071235"/>
            <a:ext cx="5333722" cy="16304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u="sng">
                <a:latin typeface="Roboto"/>
                <a:ea typeface="Roboto"/>
                <a:cs typeface="Roboto"/>
              </a:rPr>
              <a:t>Assumptions: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Free space propagation with fixed pointing and atmospheric loss factors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Constant data rate during a downlink pass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Range from GNC is closest approach so margin is optimistic</a:t>
            </a:r>
          </a:p>
          <a:p>
            <a:pPr marL="457200" lvl="1" indent="0">
              <a:buNone/>
            </a:pPr>
            <a:endParaRPr lang="en-US" sz="1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0CA11-15F8-6AC4-F717-0649BE9A629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AB788B-8502-AEF7-7FCA-C3FCABD5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Communication System Architecture</a:t>
            </a:r>
            <a:endParaRPr lang="en-US" err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6B5127-B76E-5A4D-5424-C7F1538B51C6}"/>
              </a:ext>
            </a:extLst>
          </p:cNvPr>
          <p:cNvSpPr txBox="1">
            <a:spLocks/>
          </p:cNvSpPr>
          <p:nvPr/>
        </p:nvSpPr>
        <p:spPr>
          <a:xfrm>
            <a:off x="6851748" y="2856492"/>
            <a:ext cx="5340979" cy="2610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u="sng">
                <a:latin typeface="Roboto"/>
                <a:ea typeface="Roboto"/>
                <a:cs typeface="Roboto"/>
              </a:rPr>
              <a:t>Inputs: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Antenna diameter, </a:t>
            </a:r>
            <a:r>
              <a:rPr lang="en-US" sz="1600" err="1">
                <a:latin typeface="Roboto"/>
                <a:ea typeface="Roboto"/>
                <a:cs typeface="Roboto"/>
              </a:rPr>
              <a:t>apperture</a:t>
            </a:r>
            <a:r>
              <a:rPr lang="en-US" sz="1600">
                <a:latin typeface="Roboto"/>
                <a:ea typeface="Roboto"/>
                <a:cs typeface="Roboto"/>
              </a:rPr>
              <a:t> efficiency, wavelength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Transmit power and amplifier efficiency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DSN receive gain and system noise temperature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Data rate and required Eb/N0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Range from GNC</a:t>
            </a:r>
            <a:endParaRPr lang="en-US" sz="1600"/>
          </a:p>
          <a:p>
            <a:pPr marL="457200" lvl="1" indent="0">
              <a:buNone/>
            </a:pPr>
            <a:endParaRPr lang="en-US" sz="1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CDDC2-AD97-6F8E-57F9-1967887F3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89" y="696686"/>
            <a:ext cx="5106566" cy="605971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91FF90C-5108-D413-9781-B008EF316B47}"/>
              </a:ext>
            </a:extLst>
          </p:cNvPr>
          <p:cNvSpPr txBox="1">
            <a:spLocks/>
          </p:cNvSpPr>
          <p:nvPr/>
        </p:nvSpPr>
        <p:spPr>
          <a:xfrm>
            <a:off x="6859005" y="4953805"/>
            <a:ext cx="5232122" cy="18045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u="sng">
                <a:latin typeface="Roboto"/>
                <a:ea typeface="Roboto"/>
                <a:cs typeface="Roboto"/>
              </a:rPr>
              <a:t>Calculation flow:</a:t>
            </a:r>
            <a:endParaRPr lang="en-US" sz="1800" u="sng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Antenna gain and path loss set received power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Received power and data rate set Eb/N0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Roboto"/>
                <a:ea typeface="Roboto"/>
                <a:cs typeface="Roboto"/>
              </a:rPr>
              <a:t>Eb/N0 against the requirement gives link margin, the pass/fail metric</a:t>
            </a:r>
            <a:endParaRPr lang="en-US" sz="1600"/>
          </a:p>
          <a:p>
            <a:pPr marL="457200" lvl="1" indent="0"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98019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20C1A-752C-728B-205D-B4AD7733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A80B2-7BB2-B1A3-1AA9-357D108D711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8B4D97-6178-93AC-C914-436047C0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Communication Sample values used for calculation</a:t>
            </a:r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313B271-122D-F8CA-1564-67AC41A5A9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3649" y="1018268"/>
            <a:ext cx="9239250" cy="36576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8183619-9D0F-D522-DE6D-2EFE4B2E24A3}"/>
              </a:ext>
            </a:extLst>
          </p:cNvPr>
          <p:cNvSpPr txBox="1">
            <a:spLocks/>
          </p:cNvSpPr>
          <p:nvPr/>
        </p:nvSpPr>
        <p:spPr>
          <a:xfrm>
            <a:off x="2127349" y="4997349"/>
            <a:ext cx="7503607" cy="846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Roboto"/>
                <a:ea typeface="Roboto"/>
                <a:cs typeface="Roboto"/>
              </a:rPr>
              <a:t>Solved from antenna geometry to margin</a:t>
            </a:r>
          </a:p>
          <a:p>
            <a:r>
              <a:rPr lang="en-US" sz="1800">
                <a:latin typeface="Roboto"/>
                <a:ea typeface="Roboto"/>
                <a:cs typeface="Roboto"/>
              </a:rPr>
              <a:t>Margin is positive so the link closes with the given hardware</a:t>
            </a:r>
            <a:endParaRPr lang="en-US" sz="1800"/>
          </a:p>
          <a:p>
            <a:pPr marL="457200" lvl="1" indent="0">
              <a:buNone/>
            </a:pPr>
            <a:endParaRPr lang="en-US" sz="160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9922B18-4506-F10B-56BE-B21DC01208A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499360" y="6166485"/>
            <a:ext cx="9555480" cy="691515"/>
          </a:xfrm>
        </p:spPr>
        <p:txBody>
          <a:bodyPr/>
          <a:lstStyle/>
          <a:p>
            <a:r>
              <a:rPr lang="en-US">
                <a:latin typeface="Roboto"/>
                <a:ea typeface="Roboto"/>
                <a:cs typeface="Roboto"/>
                <a:hlinkClick r:id="rId3"/>
              </a:rPr>
              <a:t>https://deepspace.jpl.nasa.gov/dsndocs/810-005/</a:t>
            </a:r>
            <a:endParaRPr lang="en-US">
              <a:cs typeface="Roboto" panose="02000000000000000000" pitchFamily="2" charset="0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4"/>
              </a:rPr>
              <a:t>https://science.nasa.gov/missions/europa-clipper/europa-clipper-resources/standing-tall-europa-clippers-high-gain-antenna/</a:t>
            </a:r>
            <a:endParaRPr lang="en-US">
              <a:cs typeface="Roboto" panose="02000000000000000000" pitchFamily="2" charset="0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5"/>
              </a:rPr>
              <a:t>https://www.nasa.gov/centers-and-facilities/langley/europa-clipper-high-gain-antenna-undergoes-precision-testing-at-nasa-langley/</a:t>
            </a:r>
            <a:endParaRPr lang="en-US">
              <a:cs typeface="Roboto" panose="02000000000000000000" pitchFamily="2" charset="0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6"/>
              </a:rPr>
              <a:t>https://link.springer.com/article/10.1007/s11214-023-00972-0</a:t>
            </a:r>
            <a:endParaRPr lang="en-US">
              <a:cs typeface="Roboto" panose="02000000000000000000" pitchFamily="2" charset="0"/>
            </a:endParaRPr>
          </a:p>
          <a:p>
            <a:r>
              <a:rPr lang="en-US">
                <a:latin typeface="Roboto"/>
                <a:ea typeface="Roboto"/>
                <a:cs typeface="Roboto"/>
                <a:hlinkClick r:id="rId7"/>
              </a:rPr>
              <a:t>https://ieeexplore.ieee.org/abstract/document/8058576/</a:t>
            </a:r>
            <a:endParaRPr lang="en-US">
              <a:cs typeface="Roboto" panose="02000000000000000000" pitchFamily="2" charset="0"/>
              <a:hlinkClick r:id="rId7"/>
            </a:endParaRPr>
          </a:p>
        </p:txBody>
      </p:sp>
    </p:spTree>
    <p:extLst>
      <p:ext uri="{BB962C8B-B14F-4D97-AF65-F5344CB8AC3E}">
        <p14:creationId xmlns:p14="http://schemas.microsoft.com/office/powerpoint/2010/main" val="67199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5097-384C-4FEA-850E-15FEBE62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9F97-A370-9E63-CDC6-930EEF4E6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Propulsion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CDCC6-CC2D-EEC0-7FDE-DA60F15C2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Dhriti Naik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AFEB4-38EA-F478-FD08-8A6694F45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6" r="14139" b="18166"/>
          <a:stretch>
            <a:fillRect/>
          </a:stretch>
        </p:blipFill>
        <p:spPr>
          <a:xfrm>
            <a:off x="760771" y="782858"/>
            <a:ext cx="1696065" cy="2646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9003D7-A19C-BAF8-BF21-CF18C63592F1}"/>
              </a:ext>
            </a:extLst>
          </p:cNvPr>
          <p:cNvSpPr txBox="1"/>
          <p:nvPr/>
        </p:nvSpPr>
        <p:spPr>
          <a:xfrm>
            <a:off x="-2878392" y="3396804"/>
            <a:ext cx="8974392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Dhriti Naik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dnaik39@gatech.edu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395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E442F-E556-4D28-058C-0D755311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7FEC9-BFFC-F020-9F1E-2BB8BDD40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604" y="692974"/>
            <a:ext cx="5524100" cy="5675585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/>
              <a:t>Drag: F</a:t>
            </a:r>
            <a:r>
              <a:rPr lang="en-US" baseline="-25000"/>
              <a:t>D </a:t>
            </a:r>
            <a:r>
              <a:rPr lang="en-US"/>
              <a:t>= 0.5ρC</a:t>
            </a:r>
            <a:r>
              <a:rPr lang="en-US" baseline="-25000"/>
              <a:t>D</a:t>
            </a:r>
            <a:r>
              <a:rPr lang="en-US"/>
              <a:t>Av</a:t>
            </a:r>
            <a:r>
              <a:rPr lang="en-US" baseline="30000"/>
              <a:t>2</a:t>
            </a:r>
            <a:endParaRPr lang="en-US"/>
          </a:p>
          <a:p>
            <a:pPr lvl="1" fontAlgn="base"/>
            <a:r>
              <a:rPr lang="en-US"/>
              <a:t>F</a:t>
            </a:r>
            <a:r>
              <a:rPr lang="en-US" baseline="-25000"/>
              <a:t>D </a:t>
            </a:r>
            <a:r>
              <a:rPr lang="en-US"/>
              <a:t>= Drag force</a:t>
            </a:r>
          </a:p>
          <a:p>
            <a:pPr lvl="1" fontAlgn="base"/>
            <a:r>
              <a:rPr lang="en-US"/>
              <a:t>ρ = Fluid density (constant ≈1050)</a:t>
            </a:r>
          </a:p>
          <a:p>
            <a:pPr lvl="1" fontAlgn="base"/>
            <a:r>
              <a:rPr lang="en-US"/>
              <a:t>C</a:t>
            </a:r>
            <a:r>
              <a:rPr lang="en-US" baseline="-25000"/>
              <a:t>D </a:t>
            </a:r>
            <a:r>
              <a:rPr lang="en-US"/>
              <a:t>= Drag coefficient (constant ≈ 0.12)</a:t>
            </a:r>
          </a:p>
          <a:p>
            <a:pPr lvl="1" fontAlgn="base"/>
            <a:r>
              <a:rPr lang="en-US"/>
              <a:t>A = Reference area (constant ≈ 0.010)</a:t>
            </a:r>
          </a:p>
          <a:p>
            <a:pPr lvl="1" fontAlgn="base"/>
            <a:r>
              <a:rPr lang="en-US"/>
              <a:t>v = Velocity (input)</a:t>
            </a:r>
          </a:p>
          <a:p>
            <a:pPr fontAlgn="base"/>
            <a:r>
              <a:rPr lang="en-US"/>
              <a:t>Thrust: T = C</a:t>
            </a:r>
            <a:r>
              <a:rPr lang="en-US" baseline="-25000"/>
              <a:t>T</a:t>
            </a:r>
            <a:r>
              <a:rPr lang="en-US"/>
              <a:t>ρn</a:t>
            </a:r>
            <a:r>
              <a:rPr lang="en-US" baseline="30000"/>
              <a:t>2</a:t>
            </a:r>
            <a:r>
              <a:rPr lang="en-US"/>
              <a:t>D</a:t>
            </a:r>
            <a:r>
              <a:rPr lang="en-US" baseline="30000"/>
              <a:t>4</a:t>
            </a:r>
            <a:endParaRPr lang="en-US"/>
          </a:p>
          <a:p>
            <a:pPr lvl="1" fontAlgn="base"/>
            <a:r>
              <a:rPr lang="en-US"/>
              <a:t>T = Thrust force</a:t>
            </a:r>
          </a:p>
          <a:p>
            <a:pPr lvl="1" fontAlgn="base"/>
            <a:r>
              <a:rPr lang="en-US"/>
              <a:t>C</a:t>
            </a:r>
            <a:r>
              <a:rPr lang="en-US" baseline="-25000"/>
              <a:t>T</a:t>
            </a:r>
            <a:r>
              <a:rPr lang="en-US"/>
              <a:t>​ = Thrust coefficient (constant ≈ 0.18)</a:t>
            </a:r>
          </a:p>
          <a:p>
            <a:pPr lvl="1" fontAlgn="base"/>
            <a:r>
              <a:rPr lang="el-GR"/>
              <a:t>ρ = </a:t>
            </a:r>
            <a:r>
              <a:rPr lang="en-US"/>
              <a:t>Fluid density (constant ≈1050)</a:t>
            </a:r>
          </a:p>
          <a:p>
            <a:pPr lvl="1" fontAlgn="base"/>
            <a:r>
              <a:rPr lang="en-US"/>
              <a:t>n = Propeller RPM (input)</a:t>
            </a:r>
          </a:p>
          <a:p>
            <a:pPr lvl="1" fontAlgn="base"/>
            <a:r>
              <a:rPr lang="en-US"/>
              <a:t>D = Propeller diameter (constant ≈ 0.05)</a:t>
            </a:r>
          </a:p>
          <a:p>
            <a:pPr fontAlgn="base"/>
            <a:r>
              <a:rPr lang="en-US"/>
              <a:t>Motor Power: P = </a:t>
            </a:r>
            <a:r>
              <a:rPr lang="en-US" err="1"/>
              <a:t>τω</a:t>
            </a:r>
            <a:endParaRPr lang="en-US"/>
          </a:p>
          <a:p>
            <a:pPr lvl="1" fontAlgn="base"/>
            <a:r>
              <a:rPr lang="en-US"/>
              <a:t>τ = Torque (input)</a:t>
            </a:r>
          </a:p>
          <a:p>
            <a:pPr lvl="1" fontAlgn="base"/>
            <a:r>
              <a:rPr lang="en-US"/>
              <a:t>ω = Angular velocity (input)</a:t>
            </a:r>
          </a:p>
          <a:p>
            <a:pPr fontAlgn="base"/>
            <a:r>
              <a:rPr lang="en-US"/>
              <a:t>Propellor Power: P = Tv</a:t>
            </a:r>
          </a:p>
          <a:p>
            <a:pPr lvl="1" fontAlgn="base"/>
            <a:r>
              <a:rPr lang="en-US"/>
              <a:t>P = Power</a:t>
            </a:r>
          </a:p>
          <a:p>
            <a:pPr lvl="1" fontAlgn="base"/>
            <a:r>
              <a:rPr lang="en-US"/>
              <a:t>T = Thrust</a:t>
            </a:r>
          </a:p>
          <a:p>
            <a:pPr lvl="1" fontAlgn="base"/>
            <a:r>
              <a:rPr lang="en-US"/>
              <a:t>v = Velocity (input)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F7F7A-1530-EA1F-258F-1C98D7A7B3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5C485-4835-4FEC-23B9-7F0CD3AF968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8E8A5E-BED1-3594-C603-10245141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98B1A7-B51A-499F-8F5F-51B68DE12081}"/>
              </a:ext>
            </a:extLst>
          </p:cNvPr>
          <p:cNvSpPr txBox="1">
            <a:spLocks/>
          </p:cNvSpPr>
          <p:nvPr/>
        </p:nvSpPr>
        <p:spPr>
          <a:xfrm>
            <a:off x="5855370" y="693074"/>
            <a:ext cx="8149390" cy="57703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/>
              <a:t>Battery Power Needed: P = </a:t>
            </a:r>
            <a:r>
              <a:rPr lang="en-US" err="1"/>
              <a:t>P</a:t>
            </a:r>
            <a:r>
              <a:rPr lang="en-US" sz="1600" err="1"/>
              <a:t>prop</a:t>
            </a:r>
            <a:r>
              <a:rPr lang="en-US"/>
              <a:t>/(</a:t>
            </a:r>
            <a:r>
              <a:rPr lang="en-US" err="1"/>
              <a:t>η</a:t>
            </a:r>
            <a:r>
              <a:rPr lang="en-US" sz="1600" err="1"/>
              <a:t>motor</a:t>
            </a:r>
            <a:r>
              <a:rPr lang="en-US" err="1"/>
              <a:t>·η</a:t>
            </a:r>
            <a:r>
              <a:rPr lang="en-US" sz="1600" err="1"/>
              <a:t>prop</a:t>
            </a:r>
            <a:r>
              <a:rPr lang="en-US"/>
              <a:t>) </a:t>
            </a:r>
          </a:p>
          <a:p>
            <a:pPr lvl="1" fontAlgn="base"/>
            <a:r>
              <a:rPr lang="en-US"/>
              <a:t>P = Battery power</a:t>
            </a:r>
          </a:p>
          <a:p>
            <a:pPr lvl="1" fontAlgn="base"/>
            <a:r>
              <a:rPr lang="en-US" err="1"/>
              <a:t>P</a:t>
            </a:r>
            <a:r>
              <a:rPr lang="en-US" sz="1600" err="1"/>
              <a:t>prop</a:t>
            </a:r>
            <a:r>
              <a:rPr lang="en-US" sz="1600"/>
              <a:t> </a:t>
            </a:r>
            <a:r>
              <a:rPr lang="en-US"/>
              <a:t>= Mechanical power</a:t>
            </a:r>
          </a:p>
          <a:p>
            <a:pPr lvl="1" fontAlgn="base"/>
            <a:r>
              <a:rPr lang="en-US" err="1"/>
              <a:t>η</a:t>
            </a:r>
            <a:r>
              <a:rPr lang="en-US" sz="1600" err="1"/>
              <a:t>motor</a:t>
            </a:r>
            <a:r>
              <a:rPr lang="en-US" sz="1600"/>
              <a:t> </a:t>
            </a:r>
            <a:r>
              <a:rPr lang="en-US"/>
              <a:t>= Motor efficiency (constant ≈ 0.95)</a:t>
            </a:r>
          </a:p>
          <a:p>
            <a:pPr lvl="1" fontAlgn="base"/>
            <a:r>
              <a:rPr lang="en-US" err="1"/>
              <a:t>η</a:t>
            </a:r>
            <a:r>
              <a:rPr lang="en-US" sz="1600" err="1"/>
              <a:t>prop</a:t>
            </a:r>
            <a:r>
              <a:rPr lang="en-US" sz="1600"/>
              <a:t> </a:t>
            </a:r>
            <a:r>
              <a:rPr lang="en-US"/>
              <a:t>= Propellor efficiency (constant ≈ 0.80)</a:t>
            </a:r>
          </a:p>
          <a:p>
            <a:pPr fontAlgn="base"/>
            <a:r>
              <a:rPr lang="en-US"/>
              <a:t>Battery Current: I = P/V</a:t>
            </a:r>
          </a:p>
          <a:p>
            <a:pPr lvl="1" fontAlgn="base"/>
            <a:r>
              <a:rPr lang="en-US"/>
              <a:t>I = Battery current</a:t>
            </a:r>
          </a:p>
          <a:p>
            <a:pPr lvl="1" fontAlgn="base"/>
            <a:r>
              <a:rPr lang="en-US"/>
              <a:t>P = Battery power</a:t>
            </a:r>
          </a:p>
          <a:p>
            <a:pPr lvl="1" fontAlgn="base"/>
            <a:r>
              <a:rPr lang="en-US"/>
              <a:t>v = Battery voltage (constant ≈ Power subsystem)</a:t>
            </a:r>
          </a:p>
          <a:p>
            <a:pPr fontAlgn="base"/>
            <a:r>
              <a:rPr lang="en-US"/>
              <a:t>Net force: </a:t>
            </a:r>
            <a:r>
              <a:rPr lang="en-US" err="1"/>
              <a:t>F</a:t>
            </a:r>
            <a:r>
              <a:rPr lang="en-US" sz="1700" err="1"/>
              <a:t>net</a:t>
            </a:r>
            <a:r>
              <a:rPr lang="en-US"/>
              <a:t>​ = T−F</a:t>
            </a:r>
            <a:r>
              <a:rPr lang="en-US" baseline="-25000"/>
              <a:t>D</a:t>
            </a:r>
            <a:endParaRPr lang="en-US"/>
          </a:p>
          <a:p>
            <a:pPr lvl="1" fontAlgn="base"/>
            <a:r>
              <a:rPr lang="en-US" err="1"/>
              <a:t>Fnet</a:t>
            </a:r>
            <a:r>
              <a:rPr lang="en-US"/>
              <a:t>​ = Net force</a:t>
            </a:r>
          </a:p>
          <a:p>
            <a:pPr lvl="1" fontAlgn="base"/>
            <a:r>
              <a:rPr lang="en-US"/>
              <a:t>T = Thrust</a:t>
            </a:r>
          </a:p>
          <a:p>
            <a:pPr lvl="1" fontAlgn="base"/>
            <a:r>
              <a:rPr lang="en-US"/>
              <a:t>F</a:t>
            </a:r>
            <a:r>
              <a:rPr lang="en-US" baseline="-25000"/>
              <a:t>D </a:t>
            </a:r>
            <a:r>
              <a:rPr lang="en-US"/>
              <a:t>= Drag force</a:t>
            </a:r>
          </a:p>
          <a:p>
            <a:pPr fontAlgn="base"/>
            <a:r>
              <a:rPr lang="en-US"/>
              <a:t>Acceleration: a = F/m</a:t>
            </a:r>
          </a:p>
          <a:p>
            <a:pPr lvl="1" fontAlgn="base"/>
            <a:r>
              <a:rPr lang="en-US"/>
              <a:t>a = Acceleration</a:t>
            </a:r>
          </a:p>
          <a:p>
            <a:pPr lvl="1" fontAlgn="base"/>
            <a:r>
              <a:rPr lang="en-US"/>
              <a:t>F = Net force</a:t>
            </a:r>
          </a:p>
          <a:p>
            <a:pPr lvl="1" fontAlgn="base"/>
            <a:r>
              <a:rPr lang="en-US"/>
              <a:t>m = Mass (constant ≈ 2.3)</a:t>
            </a:r>
          </a:p>
        </p:txBody>
      </p:sp>
    </p:spTree>
    <p:extLst>
      <p:ext uri="{BB962C8B-B14F-4D97-AF65-F5344CB8AC3E}">
        <p14:creationId xmlns:p14="http://schemas.microsoft.com/office/powerpoint/2010/main" val="1581118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88023-C2CC-94AD-592A-F8641DC5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ADF3-095E-638E-4E43-E86E26AE0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47587" y="862965"/>
            <a:ext cx="3707251" cy="5303520"/>
          </a:xfrm>
        </p:spPr>
        <p:txBody>
          <a:bodyPr/>
          <a:lstStyle/>
          <a:p>
            <a:r>
              <a:rPr lang="en-US"/>
              <a:t>Objective: Using cruise speed (or a set velocity), determine how much power needed given submarine structure and surrounding forces</a:t>
            </a:r>
          </a:p>
          <a:p>
            <a:r>
              <a:rPr lang="en-US"/>
              <a:t>Velocity&gt;&gt;Drag&gt;&gt;Thrust&gt;&gt;(Net force, acceleration)</a:t>
            </a:r>
          </a:p>
          <a:p>
            <a:r>
              <a:rPr lang="en-US"/>
              <a:t>Motor&gt;&gt;Propellor Power&gt;&gt;Power Equations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6E9A9-0683-89FA-E05B-3B65B64EDC0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AFB89-E34F-FFEA-9F17-47A89FBE2AD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451D2F-4D02-D564-611B-3A9B230C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Propulsion BDD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21D4E-CC0C-D74B-0E80-4A3827AC3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822959"/>
            <a:ext cx="7531920" cy="504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70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4277-B716-4D14-6F2A-138507AE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B2720-E80C-8102-6812-2E2BE781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4635501"/>
            <a:ext cx="11711939" cy="1530984"/>
          </a:xfrm>
        </p:spPr>
        <p:txBody>
          <a:bodyPr>
            <a:normAutofit/>
          </a:bodyPr>
          <a:lstStyle/>
          <a:p>
            <a:r>
              <a:rPr lang="en-US" sz="1800"/>
              <a:t>Assumptions:</a:t>
            </a:r>
          </a:p>
          <a:p>
            <a:pPr lvl="1"/>
            <a:r>
              <a:rPr lang="en-US" sz="1400"/>
              <a:t>Input: velocity (or cruise speed)</a:t>
            </a:r>
          </a:p>
          <a:p>
            <a:pPr lvl="1"/>
            <a:r>
              <a:rPr lang="en-US" sz="1400"/>
              <a:t>No pressure effects from deeper water</a:t>
            </a:r>
          </a:p>
          <a:p>
            <a:pPr lvl="1"/>
            <a:r>
              <a:rPr lang="en-US" sz="1400"/>
              <a:t>Comparable to Earth’s submarines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8914B-961E-EB86-C2BC-8E594755767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F6DFE-5A32-675A-E091-C8802AAC2F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3EB3CB-6976-BA77-43C9-DA2020736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Propulsion Parametric Diagram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59F63E-3B6F-3BCC-6C24-BD5F1B6B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91516"/>
            <a:ext cx="11457855" cy="37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51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C4E8-3040-EBE5-7163-6AC32073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68734-A9AA-960F-AA8B-A198B7900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0850" y="4991101"/>
            <a:ext cx="11603989" cy="1048384"/>
          </a:xfrm>
        </p:spPr>
        <p:txBody>
          <a:bodyPr>
            <a:normAutofit/>
          </a:bodyPr>
          <a:lstStyle/>
          <a:p>
            <a:r>
              <a:rPr lang="en-US" sz="1800"/>
              <a:t>Assumptions:</a:t>
            </a:r>
          </a:p>
          <a:p>
            <a:pPr lvl="1"/>
            <a:r>
              <a:rPr lang="en-US" sz="1400"/>
              <a:t>Sensors taking angular velocity input</a:t>
            </a:r>
          </a:p>
          <a:p>
            <a:pPr lvl="1"/>
            <a:r>
              <a:rPr lang="en-US" sz="1400"/>
              <a:t>No buoyancy effects in this model</a:t>
            </a:r>
          </a:p>
          <a:p>
            <a:pPr lvl="1"/>
            <a:endParaRPr lang="en-US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A50DB-86F7-D36F-4274-4BE3024CBC4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A7ECF-2501-9824-3AF0-F7F8FC5B84F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9B36B7-77B6-BFDC-6016-696AA5A8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Propulsion Parametric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F3129F-8433-E05B-6FB2-A4078351D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673100"/>
            <a:ext cx="11347302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27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D2F814D-5F30-A02C-2574-747A040230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E4F5-176E-531B-840C-877A38C2BB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190DD-6D8F-CF26-5734-A56C5151F2E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DFD67-74FB-642E-4295-C9984AB1331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653275-0197-D44A-8DDC-9658AAE2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Propulsion Simulation Example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5E40F0-1E18-914F-B2BA-B707A454CE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1F460E-BC86-EC16-5D23-5DA608CD7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17" y="1243499"/>
            <a:ext cx="9429966" cy="11865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D1BB46-CB55-DAF3-18C5-1273F803B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2700337"/>
            <a:ext cx="8610600" cy="14573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0B6028-DCDD-3F8C-CBBD-1381A0813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137" y="4427948"/>
            <a:ext cx="8467725" cy="7429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93471F-5EA0-5999-BC00-019404519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137" y="5427152"/>
            <a:ext cx="85058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7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E163-3026-582D-A33F-3F996916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F904-E6DD-369D-EA5B-A5A63542F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GNC Subsystem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BCE98-F541-3659-726A-20B3EB6C94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Toby Reitman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75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0B03-C7C5-4502-02CE-A71415FD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2E05E-F171-FB95-04AF-6247F9A1ABF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7A26CB-AF54-39EB-B1A8-99C364ECF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GNC System Architecture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17342A-8E5F-099A-5CE1-3CA005CD5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38" y="821070"/>
            <a:ext cx="6205090" cy="5363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EDB3B4-2419-CC95-A323-AF0841613903}"/>
              </a:ext>
            </a:extLst>
          </p:cNvPr>
          <p:cNvSpPr txBox="1"/>
          <p:nvPr/>
        </p:nvSpPr>
        <p:spPr>
          <a:xfrm>
            <a:off x="7792727" y="823616"/>
            <a:ext cx="2743200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Exploring often used components of control systems: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Controller computers (Coding)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Thrusters (TVC)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Reaction Wheel Motor (internal control)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GNC Sensors (Relay current state of the system)</a:t>
            </a:r>
          </a:p>
          <a:p>
            <a:pPr marL="285750" indent="-285750">
              <a:buFont typeface="Calibri"/>
              <a:buChar char="-"/>
            </a:pPr>
            <a:endParaRPr lang="en-US">
              <a:solidFill>
                <a:schemeClr val="bg1"/>
              </a:solidFill>
              <a:ea typeface="Roboto"/>
              <a:cs typeface="Roboto"/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chemeClr val="bg1"/>
              </a:solidFill>
              <a:ea typeface="Roboto"/>
              <a:cs typeface="Roboto"/>
            </a:endParaRPr>
          </a:p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Overall BDD contains some of the values that can be obtained using GNC values</a:t>
            </a:r>
          </a:p>
        </p:txBody>
      </p:sp>
    </p:spTree>
    <p:extLst>
      <p:ext uri="{BB962C8B-B14F-4D97-AF65-F5344CB8AC3E}">
        <p14:creationId xmlns:p14="http://schemas.microsoft.com/office/powerpoint/2010/main" val="2321226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C89F-C73E-FD3B-4CC1-1BAE8C89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3E72D-30F2-F0DA-9875-9913887B9D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A9FA22-F687-6BE9-72A4-54DE26B2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Equations Used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48BCC-8378-0099-0565-7C0698FB0881}"/>
              </a:ext>
            </a:extLst>
          </p:cNvPr>
          <p:cNvSpPr txBox="1"/>
          <p:nvPr/>
        </p:nvSpPr>
        <p:spPr>
          <a:xfrm>
            <a:off x="7792727" y="823616"/>
            <a:ext cx="27432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With the given variables from the GNC component , these are some of the equations that could be used to define the system/ could be useful pieces of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0E2DB-6CC2-6CD7-6D3F-495EA49C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9" y="970885"/>
            <a:ext cx="6744292" cy="7399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036C5E-E6AE-AA98-695D-60EF8A379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27" y="1816026"/>
            <a:ext cx="7583673" cy="11762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893E5-C66C-4D84-72E7-B7917ECA8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27" y="3135719"/>
            <a:ext cx="8965905" cy="1118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D7BDC-AE80-0218-62BB-28166D480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07" y="4454082"/>
            <a:ext cx="8952024" cy="873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0855B7-AC4C-BE49-75B5-01755B0BBA63}"/>
              </a:ext>
            </a:extLst>
          </p:cNvPr>
          <p:cNvSpPr txBox="1"/>
          <p:nvPr/>
        </p:nvSpPr>
        <p:spPr>
          <a:xfrm>
            <a:off x="9216308" y="3133243"/>
            <a:ext cx="2743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Assume all values used are in SI units</a:t>
            </a:r>
          </a:p>
        </p:txBody>
      </p:sp>
    </p:spTree>
    <p:extLst>
      <p:ext uri="{BB962C8B-B14F-4D97-AF65-F5344CB8AC3E}">
        <p14:creationId xmlns:p14="http://schemas.microsoft.com/office/powerpoint/2010/main" val="882339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59A2-7BAE-0BF5-A0B7-A8D4EC67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D3B68-2816-3DB7-94F5-CBD271FFF67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800C83-3B51-DE0E-E8BC-D0113BB2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Parametric Diagram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FBFDB-11E3-A547-AF4E-19F0BDFD29A2}"/>
              </a:ext>
            </a:extLst>
          </p:cNvPr>
          <p:cNvSpPr txBox="1"/>
          <p:nvPr/>
        </p:nvSpPr>
        <p:spPr>
          <a:xfrm>
            <a:off x="7792727" y="823616"/>
            <a:ext cx="27432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Parametric diagram of sample equations used along with variables</a:t>
            </a:r>
          </a:p>
          <a:p>
            <a:endParaRPr lang="en-US">
              <a:solidFill>
                <a:schemeClr val="bg1"/>
              </a:solidFill>
              <a:ea typeface="Roboto"/>
              <a:cs typeface="Roboto"/>
            </a:endParaRPr>
          </a:p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All GNC sub systems depend on one another to solve equations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3EB414-C89E-A3D0-564A-FE0AFF86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45" y="567070"/>
            <a:ext cx="6290397" cy="554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738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5748-5F10-02D1-8014-6E7897C4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F968A-0601-CFEA-E2B1-3CCDE69E74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A3A825-5D13-3EA7-5FDD-0FEDFD97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Sample values used for calculation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6FF04-2A28-EAB3-F79E-440C1FC4C475}"/>
              </a:ext>
            </a:extLst>
          </p:cNvPr>
          <p:cNvSpPr txBox="1"/>
          <p:nvPr/>
        </p:nvSpPr>
        <p:spPr>
          <a:xfrm>
            <a:off x="7792727" y="823616"/>
            <a:ext cx="27432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Roboto"/>
                <a:cs typeface="Roboto"/>
              </a:rPr>
              <a:t>Upon running calculations, the model correctly calculated desired values. In reality, the given values would be known quantities or measured quantities by the systems being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25853E-A427-E843-C61D-F76C5A712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65" y="823866"/>
            <a:ext cx="7425070" cy="18964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88C795-FD7F-F4BF-2EDB-6260CA41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7" y="2927055"/>
            <a:ext cx="5737152" cy="844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0C3211-38F2-5316-C181-6E9F644FE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27" y="3927327"/>
            <a:ext cx="5359844" cy="1165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5F6E96-A219-D3DE-68BC-007175005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745" y="3122871"/>
            <a:ext cx="4893489" cy="12856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0B7035-0C16-0CE3-D070-47A2FE373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5239" y="4545788"/>
            <a:ext cx="5905057" cy="10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66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B32A-FA07-A4FE-B343-25FB4441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44CB-69A9-CB4C-2A8A-8D0FE02C3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Integrated Subsystems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1DF8FC-4B3C-9BB5-CFDF-8DA7C7A775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  <a:ea typeface="Roboto"/>
                <a:cs typeface="Roboto"/>
              </a:rPr>
              <a:t>By Anish Kulkarni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9F0AA5-7A89-1D0F-CFCB-CCFC1A842066}"/>
              </a:ext>
            </a:extLst>
          </p:cNvPr>
          <p:cNvSpPr txBox="1">
            <a:spLocks/>
          </p:cNvSpPr>
          <p:nvPr/>
        </p:nvSpPr>
        <p:spPr>
          <a:xfrm>
            <a:off x="348343" y="3647375"/>
            <a:ext cx="3403600" cy="9107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"/>
                <a:ea typeface="Roboto"/>
                <a:cs typeface="Roboto"/>
              </a:rPr>
              <a:t>Anish Kulkarni</a:t>
            </a:r>
          </a:p>
          <a:p>
            <a:r>
              <a:rPr lang="en-US">
                <a:latin typeface="Roboto"/>
                <a:ea typeface="Roboto"/>
                <a:cs typeface="Roboto"/>
              </a:rPr>
              <a:t>akulkarni367@gatech.edu</a:t>
            </a:r>
            <a:endParaRPr lang="en-US"/>
          </a:p>
        </p:txBody>
      </p:sp>
      <p:pic>
        <p:nvPicPr>
          <p:cNvPr id="7" name="Picture 6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CC17A9F0-6575-4DAB-9585-54B2A2EC8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23" y="740001"/>
            <a:ext cx="1482725" cy="267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08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5C2F9-184B-49D9-24AB-4902835C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AFBC8-5C6E-21E7-E0EE-5C71CB264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834" y="4068435"/>
            <a:ext cx="7460066" cy="2167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u="sng">
                <a:latin typeface="Roboto"/>
                <a:ea typeface="Roboto"/>
                <a:cs typeface="Roboto"/>
              </a:rPr>
              <a:t>OBJECTIVES:</a:t>
            </a:r>
            <a:endParaRPr lang="en-US" sz="1800"/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Connect six independently developed subsystems into one executable model</a:t>
            </a:r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Establish a common unit so subsystem outputs can be combined</a:t>
            </a:r>
            <a:endParaRPr lang="en-US"/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Verify the vehicle's power supply meets total demand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latin typeface="Roboto"/>
              <a:ea typeface="Roboto"/>
              <a:cs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5728C-3BEF-1876-DB9F-369C61499D0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8A1A89-37A6-78C4-CB36-883A9835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Integration Architecture</a:t>
            </a:r>
            <a:endParaRPr lang="en-US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4D386-3534-D103-A5E0-D646419B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8" y="612944"/>
            <a:ext cx="7453086" cy="328079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030BCA-E90F-9277-DF9D-A566EB2E7359}"/>
              </a:ext>
            </a:extLst>
          </p:cNvPr>
          <p:cNvSpPr txBox="1">
            <a:spLocks/>
          </p:cNvSpPr>
          <p:nvPr/>
        </p:nvSpPr>
        <p:spPr>
          <a:xfrm>
            <a:off x="7998377" y="490664"/>
            <a:ext cx="4056466" cy="41776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u="sng">
                <a:latin typeface="Roboto"/>
                <a:ea typeface="Roboto"/>
                <a:cs typeface="Roboto"/>
              </a:rPr>
              <a:t>Approach: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Roboto"/>
                <a:ea typeface="Roboto"/>
                <a:cs typeface="Roboto"/>
              </a:rPr>
              <a:t>Each Subsystem was modeled independently, then added as a part property of the system level module &lt;block&gt;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Roboto"/>
                <a:ea typeface="Roboto"/>
                <a:cs typeface="Roboto"/>
              </a:rPr>
              <a:t>A parametric diagram at system level can only reach values in the part properties, hence cross system is possible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Roboto"/>
                <a:ea typeface="Roboto"/>
                <a:cs typeface="Roboto"/>
              </a:rPr>
              <a:t>Electrical power was chosen as Integrating quantity between almost all subsystems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latin typeface="Roboto"/>
                <a:ea typeface="Roboto"/>
                <a:cs typeface="Roboto"/>
              </a:rPr>
              <a:t>Additional distance from earth was also connected between systems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70963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097F-A52E-C4CB-41E3-6102068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62D7-0AA3-4F0B-E3EE-EC0DA6C57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6834" y="4017635"/>
            <a:ext cx="7460066" cy="2167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u="sng">
                <a:latin typeface="Roboto"/>
                <a:ea typeface="Roboto"/>
                <a:cs typeface="Roboto"/>
              </a:rPr>
              <a:t>Integration Strategy:</a:t>
            </a:r>
            <a:endParaRPr lang="en-US" sz="1800"/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Each subsystem's power/amp is converted into energy (</a:t>
            </a:r>
            <a:r>
              <a:rPr lang="en-US" sz="1600" err="1">
                <a:latin typeface="Roboto"/>
                <a:ea typeface="Roboto"/>
                <a:cs typeface="Roboto"/>
              </a:rPr>
              <a:t>Wh</a:t>
            </a:r>
            <a:r>
              <a:rPr lang="en-US" sz="1600">
                <a:latin typeface="Roboto"/>
                <a:ea typeface="Roboto"/>
                <a:cs typeface="Roboto"/>
              </a:rPr>
              <a:t>) with a given time and battery voltage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Uses assumption that batteries are in parallel and have same Voltage</a:t>
            </a:r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Total Energy is calculated and sent back into power subsystem</a:t>
            </a:r>
          </a:p>
          <a:p>
            <a:pPr marL="0" indent="0">
              <a:buNone/>
            </a:pPr>
            <a:r>
              <a:rPr lang="en-US" sz="1600">
                <a:latin typeface="Roboto"/>
                <a:ea typeface="Roboto"/>
                <a:cs typeface="Roboto"/>
              </a:rPr>
              <a:t>Earth to craft distance was connected between GNC and Communications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latin typeface="Roboto"/>
              <a:ea typeface="Roboto"/>
              <a:cs typeface="Robo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80C0F-5C5D-B2FE-10E7-FF3B37CDD88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5054A87-CD79-43D9-5DFB-BE0143E2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Integration Architecture</a:t>
            </a:r>
            <a:endParaRPr lang="en-US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2F67B-D26E-9973-8A1A-802018F7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85" y="641973"/>
            <a:ext cx="7453086" cy="3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986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9174A-823F-F374-48B6-3D951838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55178-274E-F957-9E5E-754646A28EE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FF9C2-2D80-0FBF-529B-7F7C0F4BB75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968A06-6737-65BD-F8A2-2D10C17C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Equations Used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C85F99-1BC7-E4F5-CD37-53B116850B9E}"/>
              </a:ext>
            </a:extLst>
          </p:cNvPr>
          <p:cNvSpPr txBox="1">
            <a:spLocks/>
          </p:cNvSpPr>
          <p:nvPr/>
        </p:nvSpPr>
        <p:spPr>
          <a:xfrm>
            <a:off x="639633" y="947863"/>
            <a:ext cx="5311951" cy="53823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Roboto"/>
                <a:ea typeface="Roboto"/>
                <a:cs typeface="Roboto"/>
              </a:rPr>
              <a:t>Comm Energy Demand: </a:t>
            </a:r>
            <a:r>
              <a:rPr lang="en-US" sz="1800" err="1">
                <a:latin typeface="Roboto"/>
                <a:ea typeface="Roboto"/>
                <a:cs typeface="Roboto"/>
              </a:rPr>
              <a:t>E_comm_req</a:t>
            </a:r>
            <a:r>
              <a:rPr lang="en-US" sz="1800">
                <a:latin typeface="Roboto"/>
                <a:ea typeface="Roboto"/>
                <a:cs typeface="Roboto"/>
              </a:rPr>
              <a:t> = </a:t>
            </a:r>
            <a:r>
              <a:rPr lang="en-US" sz="1800" err="1">
                <a:latin typeface="Roboto"/>
                <a:ea typeface="Roboto"/>
                <a:cs typeface="Roboto"/>
              </a:rPr>
              <a:t>comm_power_draw</a:t>
            </a:r>
            <a:r>
              <a:rPr lang="en-US" sz="1800">
                <a:latin typeface="Roboto"/>
                <a:ea typeface="Roboto"/>
                <a:cs typeface="Roboto"/>
              </a:rPr>
              <a:t> · </a:t>
            </a:r>
            <a:r>
              <a:rPr lang="en-US" sz="1800" err="1">
                <a:latin typeface="Roboto"/>
                <a:ea typeface="Roboto"/>
                <a:cs typeface="Roboto"/>
              </a:rPr>
              <a:t>t_op</a:t>
            </a:r>
            <a:endParaRPr lang="en-US" sz="1800" u="sng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E_comm_req</a:t>
            </a:r>
            <a:r>
              <a:rPr lang="en-US" sz="1400">
                <a:latin typeface="Roboto"/>
                <a:ea typeface="Roboto"/>
                <a:cs typeface="Roboto"/>
              </a:rPr>
              <a:t> = daily energy required by the communication subsystem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comm_power_draw</a:t>
            </a:r>
            <a:r>
              <a:rPr lang="en-US" sz="1400">
                <a:latin typeface="Roboto"/>
                <a:ea typeface="Roboto"/>
                <a:cs typeface="Roboto"/>
              </a:rPr>
              <a:t> = electrical power drawn by the radio (W)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t_op</a:t>
            </a:r>
            <a:r>
              <a:rPr lang="en-US" sz="1400">
                <a:latin typeface="Roboto"/>
                <a:ea typeface="Roboto"/>
                <a:cs typeface="Roboto"/>
              </a:rPr>
              <a:t> = shared operating period (h)</a:t>
            </a:r>
            <a:endParaRPr lang="en-US"/>
          </a:p>
          <a:p>
            <a:r>
              <a:rPr lang="en-US" sz="1800">
                <a:latin typeface="Roboto"/>
                <a:ea typeface="Roboto"/>
                <a:cs typeface="Roboto"/>
              </a:rPr>
              <a:t>Propulsion Energy Demand: </a:t>
            </a:r>
            <a:r>
              <a:rPr lang="en-US" sz="1800" err="1">
                <a:latin typeface="Roboto"/>
                <a:ea typeface="Roboto"/>
                <a:cs typeface="Roboto"/>
              </a:rPr>
              <a:t>E_prop_req</a:t>
            </a:r>
            <a:r>
              <a:rPr lang="en-US" sz="1800">
                <a:latin typeface="Roboto"/>
                <a:ea typeface="Roboto"/>
                <a:cs typeface="Roboto"/>
              </a:rPr>
              <a:t> = </a:t>
            </a:r>
            <a:r>
              <a:rPr lang="en-US" sz="1800" err="1">
                <a:latin typeface="Roboto"/>
                <a:ea typeface="Roboto"/>
                <a:cs typeface="Roboto"/>
              </a:rPr>
              <a:t>Batt_Power</a:t>
            </a:r>
            <a:r>
              <a:rPr lang="en-US" sz="1800">
                <a:latin typeface="Roboto"/>
                <a:ea typeface="Roboto"/>
                <a:cs typeface="Roboto"/>
              </a:rPr>
              <a:t> · </a:t>
            </a:r>
            <a:r>
              <a:rPr lang="en-US" sz="1800" err="1">
                <a:latin typeface="Roboto"/>
                <a:ea typeface="Roboto"/>
                <a:cs typeface="Roboto"/>
              </a:rPr>
              <a:t>t_op</a:t>
            </a:r>
            <a:endParaRPr lang="en-US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E_prop_req</a:t>
            </a:r>
            <a:r>
              <a:rPr lang="en-US" sz="1400">
                <a:latin typeface="Roboto"/>
                <a:ea typeface="Roboto"/>
                <a:cs typeface="Roboto"/>
              </a:rPr>
              <a:t> = daily energy required by propulsion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Batt_Power</a:t>
            </a:r>
            <a:r>
              <a:rPr lang="en-US" sz="1400">
                <a:latin typeface="Roboto"/>
                <a:ea typeface="Roboto"/>
                <a:cs typeface="Roboto"/>
              </a:rPr>
              <a:t> = electrical power drawn from the battery (W)</a:t>
            </a:r>
            <a:endParaRPr lang="en-US"/>
          </a:p>
          <a:p>
            <a:r>
              <a:rPr lang="en-US" sz="1800">
                <a:latin typeface="Roboto"/>
                <a:ea typeface="Roboto"/>
                <a:cs typeface="Roboto"/>
              </a:rPr>
              <a:t>GNC Energy Demand: </a:t>
            </a:r>
            <a:r>
              <a:rPr lang="en-US" sz="1800" err="1">
                <a:latin typeface="Roboto"/>
                <a:ea typeface="Roboto"/>
                <a:cs typeface="Roboto"/>
              </a:rPr>
              <a:t>E_GNC_req</a:t>
            </a:r>
            <a:r>
              <a:rPr lang="en-US" sz="1800">
                <a:latin typeface="Roboto"/>
                <a:ea typeface="Roboto"/>
                <a:cs typeface="Roboto"/>
              </a:rPr>
              <a:t> = </a:t>
            </a:r>
            <a:r>
              <a:rPr lang="en-US" sz="1800" err="1">
                <a:latin typeface="Roboto"/>
                <a:ea typeface="Roboto"/>
                <a:cs typeface="Roboto"/>
              </a:rPr>
              <a:t>t_op</a:t>
            </a:r>
            <a:r>
              <a:rPr lang="en-US" sz="1800">
                <a:latin typeface="Roboto"/>
                <a:ea typeface="Roboto"/>
                <a:cs typeface="Roboto"/>
              </a:rPr>
              <a:t> · (</a:t>
            </a:r>
            <a:r>
              <a:rPr lang="en-US" sz="1800" err="1">
                <a:latin typeface="Roboto"/>
                <a:ea typeface="Roboto"/>
                <a:cs typeface="Roboto"/>
              </a:rPr>
              <a:t>TotalGNC_current</a:t>
            </a:r>
            <a:r>
              <a:rPr lang="en-US" sz="1800">
                <a:latin typeface="Roboto"/>
                <a:ea typeface="Roboto"/>
                <a:cs typeface="Roboto"/>
              </a:rPr>
              <a:t> · </a:t>
            </a:r>
            <a:r>
              <a:rPr lang="en-US" sz="1800" err="1">
                <a:latin typeface="Roboto"/>
                <a:ea typeface="Roboto"/>
                <a:cs typeface="Roboto"/>
              </a:rPr>
              <a:t>GNC_volt</a:t>
            </a:r>
            <a:r>
              <a:rPr lang="en-US" sz="1800">
                <a:latin typeface="Roboto"/>
                <a:ea typeface="Roboto"/>
                <a:cs typeface="Roboto"/>
              </a:rPr>
              <a:t>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E_GNC_req</a:t>
            </a:r>
            <a:r>
              <a:rPr lang="en-US" sz="1400">
                <a:latin typeface="Roboto"/>
                <a:ea typeface="Roboto"/>
                <a:cs typeface="Roboto"/>
              </a:rPr>
              <a:t> = daily energy required by GNC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TotalGNC_current</a:t>
            </a:r>
            <a:r>
              <a:rPr lang="en-US" sz="1400">
                <a:latin typeface="Roboto"/>
                <a:ea typeface="Roboto"/>
                <a:cs typeface="Roboto"/>
              </a:rPr>
              <a:t> = summed current draw of reaction wheel and sensors (A)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GNC_volt</a:t>
            </a:r>
            <a:r>
              <a:rPr lang="en-US" sz="1400">
                <a:latin typeface="Roboto"/>
                <a:ea typeface="Roboto"/>
                <a:cs typeface="Roboto"/>
              </a:rPr>
              <a:t> = bus voltage supplied by the batteries (V)</a:t>
            </a:r>
            <a:endParaRPr lang="en-US"/>
          </a:p>
          <a:p>
            <a:endParaRPr lang="en-US" sz="1800"/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FC5355A-AAFB-805B-1051-7E9920BC83DA}"/>
              </a:ext>
            </a:extLst>
          </p:cNvPr>
          <p:cNvSpPr txBox="1">
            <a:spLocks/>
          </p:cNvSpPr>
          <p:nvPr/>
        </p:nvSpPr>
        <p:spPr>
          <a:xfrm>
            <a:off x="5567232" y="831748"/>
            <a:ext cx="6494865" cy="5346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Roboto"/>
                <a:ea typeface="Roboto"/>
                <a:cs typeface="Roboto"/>
              </a:rPr>
              <a:t>Thermal Energy Demand: </a:t>
            </a:r>
            <a:r>
              <a:rPr lang="en-US" sz="1800" err="1">
                <a:latin typeface="Roboto"/>
                <a:ea typeface="Roboto"/>
                <a:cs typeface="Roboto"/>
              </a:rPr>
              <a:t>E_thermal_req</a:t>
            </a:r>
            <a:r>
              <a:rPr lang="en-US" sz="1800">
                <a:latin typeface="Roboto"/>
                <a:ea typeface="Roboto"/>
                <a:cs typeface="Roboto"/>
              </a:rPr>
              <a:t> = </a:t>
            </a:r>
            <a:r>
              <a:rPr lang="en-US" sz="1800" err="1">
                <a:latin typeface="Roboto"/>
                <a:ea typeface="Roboto"/>
                <a:cs typeface="Roboto"/>
              </a:rPr>
              <a:t>thermal_power</a:t>
            </a:r>
            <a:r>
              <a:rPr lang="en-US" sz="1800">
                <a:latin typeface="Roboto"/>
                <a:ea typeface="Roboto"/>
                <a:cs typeface="Roboto"/>
              </a:rPr>
              <a:t> · </a:t>
            </a:r>
            <a:r>
              <a:rPr lang="en-US" sz="1800" err="1">
                <a:latin typeface="Roboto"/>
                <a:ea typeface="Roboto"/>
                <a:cs typeface="Roboto"/>
              </a:rPr>
              <a:t>t_op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E_thermal_req</a:t>
            </a:r>
            <a:r>
              <a:rPr lang="en-US" sz="1400">
                <a:latin typeface="Roboto"/>
                <a:ea typeface="Roboto"/>
                <a:cs typeface="Roboto"/>
              </a:rPr>
              <a:t> = daily energy required by thermal control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thermal_power</a:t>
            </a:r>
            <a:r>
              <a:rPr lang="en-US" sz="1400">
                <a:latin typeface="Roboto"/>
                <a:ea typeface="Roboto"/>
                <a:cs typeface="Roboto"/>
              </a:rPr>
              <a:t> = heater power needed to hold operating temperature (W)</a:t>
            </a:r>
            <a:endParaRPr lang="en-US">
              <a:latin typeface="Roboto"/>
              <a:ea typeface="Roboto"/>
              <a:cs typeface="Roboto"/>
            </a:endParaRPr>
          </a:p>
          <a:p>
            <a:r>
              <a:rPr lang="en-US" sz="1800">
                <a:latin typeface="Roboto"/>
                <a:ea typeface="Roboto"/>
                <a:cs typeface="Roboto"/>
              </a:rPr>
              <a:t>Total Energy Demand:</a:t>
            </a:r>
            <a:br>
              <a:rPr lang="en-US" sz="1800"/>
            </a:br>
            <a:r>
              <a:rPr lang="en-US" sz="1800">
                <a:latin typeface="Roboto"/>
                <a:ea typeface="Roboto"/>
                <a:cs typeface="Roboto"/>
              </a:rPr>
              <a:t> </a:t>
            </a:r>
            <a:r>
              <a:rPr lang="en-US" sz="1800" err="1">
                <a:latin typeface="Roboto"/>
                <a:ea typeface="Roboto"/>
                <a:cs typeface="Roboto"/>
              </a:rPr>
              <a:t>E_demand_total</a:t>
            </a:r>
            <a:r>
              <a:rPr lang="en-US" sz="1800">
                <a:latin typeface="Roboto"/>
                <a:ea typeface="Roboto"/>
                <a:cs typeface="Roboto"/>
              </a:rPr>
              <a:t> = </a:t>
            </a:r>
            <a:r>
              <a:rPr lang="en-US" sz="1800" err="1">
                <a:latin typeface="Roboto"/>
                <a:ea typeface="Roboto"/>
                <a:cs typeface="Roboto"/>
              </a:rPr>
              <a:t>E_Drill_req</a:t>
            </a:r>
            <a:r>
              <a:rPr lang="en-US" sz="1800">
                <a:latin typeface="Roboto"/>
                <a:ea typeface="Roboto"/>
                <a:cs typeface="Roboto"/>
              </a:rPr>
              <a:t> + </a:t>
            </a:r>
            <a:r>
              <a:rPr lang="en-US" sz="1800" err="1">
                <a:latin typeface="Roboto"/>
                <a:ea typeface="Roboto"/>
                <a:cs typeface="Roboto"/>
              </a:rPr>
              <a:t>E_APU_req</a:t>
            </a:r>
            <a:r>
              <a:rPr lang="en-US" sz="1800">
                <a:latin typeface="Roboto"/>
                <a:ea typeface="Roboto"/>
                <a:cs typeface="Roboto"/>
              </a:rPr>
              <a:t> + </a:t>
            </a:r>
            <a:r>
              <a:rPr lang="en-US" sz="1800" err="1">
                <a:latin typeface="Roboto"/>
                <a:ea typeface="Roboto"/>
                <a:cs typeface="Roboto"/>
              </a:rPr>
              <a:t>E_prop_req</a:t>
            </a:r>
            <a:r>
              <a:rPr lang="en-US" sz="1800">
                <a:latin typeface="Roboto"/>
                <a:ea typeface="Roboto"/>
                <a:cs typeface="Roboto"/>
              </a:rPr>
              <a:t> + </a:t>
            </a:r>
            <a:r>
              <a:rPr lang="en-US" sz="1800" err="1">
                <a:latin typeface="Roboto"/>
                <a:ea typeface="Roboto"/>
                <a:cs typeface="Roboto"/>
              </a:rPr>
              <a:t>E_comm_req</a:t>
            </a:r>
            <a:r>
              <a:rPr lang="en-US" sz="1800">
                <a:latin typeface="Roboto"/>
                <a:ea typeface="Roboto"/>
                <a:cs typeface="Roboto"/>
              </a:rPr>
              <a:t> + </a:t>
            </a:r>
            <a:r>
              <a:rPr lang="en-US" sz="1800" err="1">
                <a:latin typeface="Roboto"/>
                <a:ea typeface="Roboto"/>
                <a:cs typeface="Roboto"/>
              </a:rPr>
              <a:t>E_GNC_req</a:t>
            </a:r>
            <a:r>
              <a:rPr lang="en-US" sz="1800">
                <a:latin typeface="Roboto"/>
                <a:ea typeface="Roboto"/>
                <a:cs typeface="Roboto"/>
              </a:rPr>
              <a:t> + </a:t>
            </a:r>
            <a:r>
              <a:rPr lang="en-US" sz="1800" err="1">
                <a:latin typeface="Roboto"/>
                <a:ea typeface="Roboto"/>
                <a:cs typeface="Roboto"/>
              </a:rPr>
              <a:t>E_thermal_req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E_demand_total</a:t>
            </a:r>
            <a:r>
              <a:rPr lang="en-US" sz="1400">
                <a:latin typeface="Roboto"/>
                <a:ea typeface="Roboto"/>
                <a:cs typeface="Roboto"/>
              </a:rPr>
              <a:t> = total daily energy demand of the vehicle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E_Drill_req</a:t>
            </a:r>
            <a:r>
              <a:rPr lang="en-US" sz="1400">
                <a:latin typeface="Roboto"/>
                <a:ea typeface="Roboto"/>
                <a:cs typeface="Roboto"/>
              </a:rPr>
              <a:t> = energy required by the ice drill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latin typeface="Roboto"/>
                <a:ea typeface="Roboto"/>
                <a:cs typeface="Roboto"/>
              </a:rPr>
              <a:t>E_APU_req</a:t>
            </a:r>
            <a:r>
              <a:rPr lang="en-US" sz="1400">
                <a:latin typeface="Roboto"/>
                <a:ea typeface="Roboto"/>
                <a:cs typeface="Roboto"/>
              </a:rPr>
              <a:t> = energy required by the auxiliary power unit (</a:t>
            </a:r>
            <a:r>
              <a:rPr lang="en-US" sz="1400" err="1">
                <a:latin typeface="Roboto"/>
                <a:ea typeface="Roboto"/>
                <a:cs typeface="Roboto"/>
              </a:rPr>
              <a:t>Wh</a:t>
            </a:r>
            <a:r>
              <a:rPr lang="en-US" sz="1400">
                <a:latin typeface="Roboto"/>
                <a:ea typeface="Roboto"/>
                <a:cs typeface="Roboto"/>
              </a:rPr>
              <a:t>)</a:t>
            </a:r>
            <a:endParaRPr lang="en-US">
              <a:latin typeface="Roboto"/>
              <a:ea typeface="Roboto"/>
              <a:cs typeface="Roboto"/>
            </a:endParaRP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  <a:p>
            <a:endParaRPr lang="en-US" sz="1800"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337491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E9D02A5-401A-DAD3-6C33-62E25F6E4E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4FCC-AB6A-FACA-59CF-DF94F875DC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7EFD4-CA40-8632-8874-0CD5067E523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2CD79-D242-4EA8-2411-BC371DD667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BD1CD1-E999-1AA8-0D92-4C2D51B9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BDD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B5CB48-D5B6-4FA8-AA43-0AC2F5D1F2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E2C83F-B67C-FA22-3507-A45758A3C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" y="1083091"/>
            <a:ext cx="11968641" cy="437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80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6636473-5D35-2F09-EAE5-5442840B17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C7E43-1BED-BF3E-02A7-72D0027248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EDBA-40C6-3225-1108-0EBB9AEE6A0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FCB3E-4D5B-B74E-CEBD-A9403EAF71A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146EEE-DEDC-B3E5-A705-E605E894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BDD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4FE68B-1229-814E-694C-3C4E0428D5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9FBBD-A17C-B30E-3729-36AD20C4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14" y="822958"/>
            <a:ext cx="11689460" cy="439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090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D8EC-5BE8-A9D0-B23C-D0CF639D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B393C-F6A7-B65F-643E-EB84EEE06FD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E678206-0642-9F48-9727-6B519CB285F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C915AD-24BF-1B36-5ADF-9CFF65FA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boto"/>
                <a:ea typeface="Roboto"/>
                <a:cs typeface="Roboto"/>
              </a:rPr>
              <a:t>Integration Parametric</a:t>
            </a:r>
            <a:endParaRPr lang="en-US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F9A67-27BC-9151-7573-6B3B9D131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49230"/>
            <a:ext cx="12191999" cy="53998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C78C1C-C01E-B6E0-D766-9069FCD971F2}"/>
              </a:ext>
            </a:extLst>
          </p:cNvPr>
          <p:cNvSpPr txBox="1"/>
          <p:nvPr/>
        </p:nvSpPr>
        <p:spPr>
          <a:xfrm>
            <a:off x="382345" y="2928245"/>
            <a:ext cx="164300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Roboto"/>
                <a:cs typeface="Roboto"/>
              </a:rPr>
              <a:t>Energy calculations to </a:t>
            </a:r>
            <a:r>
              <a:rPr lang="en-US" err="1">
                <a:solidFill>
                  <a:srgbClr val="FF0000"/>
                </a:solidFill>
                <a:ea typeface="Roboto"/>
                <a:cs typeface="Roboto"/>
              </a:rPr>
              <a:t>Wh</a:t>
            </a:r>
            <a:r>
              <a:rPr lang="en-US">
                <a:solidFill>
                  <a:srgbClr val="FF0000"/>
                </a:solidFill>
                <a:ea typeface="Roboto"/>
                <a:cs typeface="Roboto"/>
              </a:rPr>
              <a:t> instead of W or A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F09A2B-92CD-9020-32C4-EF8F3DBB715B}"/>
              </a:ext>
            </a:extLst>
          </p:cNvPr>
          <p:cNvCxnSpPr/>
          <p:nvPr/>
        </p:nvCxnSpPr>
        <p:spPr>
          <a:xfrm flipV="1">
            <a:off x="1103540" y="2094138"/>
            <a:ext cx="65314" cy="841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97F865-E9E6-185A-33DC-D78620DDCD15}"/>
              </a:ext>
            </a:extLst>
          </p:cNvPr>
          <p:cNvCxnSpPr>
            <a:cxnSpLocks/>
          </p:cNvCxnSpPr>
          <p:nvPr/>
        </p:nvCxnSpPr>
        <p:spPr>
          <a:xfrm flipV="1">
            <a:off x="1872796" y="2877908"/>
            <a:ext cx="3098800" cy="391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6F2583-496E-E673-0764-C90F28CFAFF7}"/>
              </a:ext>
            </a:extLst>
          </p:cNvPr>
          <p:cNvSpPr txBox="1"/>
          <p:nvPr/>
        </p:nvSpPr>
        <p:spPr>
          <a:xfrm>
            <a:off x="10324630" y="3588644"/>
            <a:ext cx="16430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Roboto"/>
                <a:cs typeface="Roboto"/>
              </a:rPr>
              <a:t>Distance Relation</a:t>
            </a:r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09B2DB-A18B-146A-5057-CD1424BC8185}"/>
              </a:ext>
            </a:extLst>
          </p:cNvPr>
          <p:cNvCxnSpPr>
            <a:cxnSpLocks/>
          </p:cNvCxnSpPr>
          <p:nvPr/>
        </p:nvCxnSpPr>
        <p:spPr>
          <a:xfrm flipH="1" flipV="1">
            <a:off x="10523309" y="2885165"/>
            <a:ext cx="174171" cy="638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BD4744-1573-4537-5301-1B5E26503B7D}"/>
              </a:ext>
            </a:extLst>
          </p:cNvPr>
          <p:cNvSpPr txBox="1"/>
          <p:nvPr/>
        </p:nvSpPr>
        <p:spPr>
          <a:xfrm>
            <a:off x="317030" y="4386930"/>
            <a:ext cx="164300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Roboto"/>
                <a:cs typeface="Roboto"/>
              </a:rPr>
              <a:t>Energy Total Calc and sent to Power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690762-88CE-2AF5-75AC-EE93BC7E7D4B}"/>
              </a:ext>
            </a:extLst>
          </p:cNvPr>
          <p:cNvCxnSpPr>
            <a:cxnSpLocks/>
          </p:cNvCxnSpPr>
          <p:nvPr/>
        </p:nvCxnSpPr>
        <p:spPr>
          <a:xfrm>
            <a:off x="1959881" y="4815566"/>
            <a:ext cx="6945085" cy="478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8F2A856-318A-AD35-7CCD-BA2F888CA09C}"/>
              </a:ext>
            </a:extLst>
          </p:cNvPr>
          <p:cNvSpPr txBox="1"/>
          <p:nvPr/>
        </p:nvSpPr>
        <p:spPr>
          <a:xfrm>
            <a:off x="7407258" y="649501"/>
            <a:ext cx="23614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Roboto"/>
                <a:cs typeface="Roboto"/>
              </a:rPr>
              <a:t>Voltage Assumption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3EC416-297E-31C6-DF93-FE615C41AC6C}"/>
              </a:ext>
            </a:extLst>
          </p:cNvPr>
          <p:cNvCxnSpPr>
            <a:cxnSpLocks/>
          </p:cNvCxnSpPr>
          <p:nvPr/>
        </p:nvCxnSpPr>
        <p:spPr>
          <a:xfrm>
            <a:off x="7925253" y="1216022"/>
            <a:ext cx="145143" cy="25182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14880"/>
      </p:ext>
    </p:extLst>
  </p:cSld>
  <p:clrMapOvr>
    <a:masterClrMapping/>
  </p:clrMapOvr>
</p:sld>
</file>

<file path=ppt/theme/theme1.xml><?xml version="1.0" encoding="utf-8"?>
<a:theme xmlns:a="http://schemas.openxmlformats.org/drawingml/2006/main" name="ASDL Dark">
  <a:themeElements>
    <a:clrScheme name="Georgia Tech Colors">
      <a:dk1>
        <a:srgbClr val="003057"/>
      </a:dk1>
      <a:lt1>
        <a:srgbClr val="FFFFFF"/>
      </a:lt1>
      <a:dk2>
        <a:srgbClr val="003057"/>
      </a:dk2>
      <a:lt2>
        <a:srgbClr val="FFFFFF"/>
      </a:lt2>
      <a:accent1>
        <a:srgbClr val="3A5DAE"/>
      </a:accent1>
      <a:accent2>
        <a:srgbClr val="E04F39"/>
      </a:accent2>
      <a:accent3>
        <a:srgbClr val="A4D233"/>
      </a:accent3>
      <a:accent4>
        <a:srgbClr val="008C95"/>
      </a:accent4>
      <a:accent5>
        <a:srgbClr val="64CCC9"/>
      </a:accent5>
      <a:accent6>
        <a:srgbClr val="FFCD00"/>
      </a:accent6>
      <a:hlink>
        <a:srgbClr val="EAAA00"/>
      </a:hlink>
      <a:folHlink>
        <a:srgbClr val="5F249F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4A168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SDL Template.potx" id="{AE9B486D-9F74-4EA5-B664-43E898A45A74}" vid="{2325FDD1-49B4-4E41-BAF1-902466D284BC}"/>
    </a:ext>
  </a:extLst>
</a:theme>
</file>

<file path=ppt/theme/theme2.xml><?xml version="1.0" encoding="utf-8"?>
<a:theme xmlns:a="http://schemas.openxmlformats.org/drawingml/2006/main" name="ASDL Bright">
  <a:themeElements>
    <a:clrScheme name="Georgia Tech Colors">
      <a:dk1>
        <a:srgbClr val="003057"/>
      </a:dk1>
      <a:lt1>
        <a:srgbClr val="FFFFFF"/>
      </a:lt1>
      <a:dk2>
        <a:srgbClr val="003057"/>
      </a:dk2>
      <a:lt2>
        <a:srgbClr val="FFFFFF"/>
      </a:lt2>
      <a:accent1>
        <a:srgbClr val="3A5DAE"/>
      </a:accent1>
      <a:accent2>
        <a:srgbClr val="E04F39"/>
      </a:accent2>
      <a:accent3>
        <a:srgbClr val="A4D233"/>
      </a:accent3>
      <a:accent4>
        <a:srgbClr val="008C95"/>
      </a:accent4>
      <a:accent5>
        <a:srgbClr val="64CCC9"/>
      </a:accent5>
      <a:accent6>
        <a:srgbClr val="FFCD00"/>
      </a:accent6>
      <a:hlink>
        <a:srgbClr val="EAAA00"/>
      </a:hlink>
      <a:folHlink>
        <a:srgbClr val="5F249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DL Template.potx" id="{AE9B486D-9F74-4EA5-B664-43E898A45A74}" vid="{5B42E1B6-782C-453A-A22E-3D37EB24F2C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CBD1AABAF3C44AA7D43AEA05F8D608" ma:contentTypeVersion="10" ma:contentTypeDescription="Create a new document." ma:contentTypeScope="" ma:versionID="d290f978334232329f1624f79504c94b">
  <xsd:schema xmlns:xsd="http://www.w3.org/2001/XMLSchema" xmlns:xs="http://www.w3.org/2001/XMLSchema" xmlns:p="http://schemas.microsoft.com/office/2006/metadata/properties" xmlns:ns2="3bff0320-9b13-4fa2-a607-cc866c0a48c4" xmlns:ns3="cf0e4ace-1dbb-4e9b-acd6-8d478fc29819" targetNamespace="http://schemas.microsoft.com/office/2006/metadata/properties" ma:root="true" ma:fieldsID="4c942c0a278b61a8dd587067fefd9158" ns2:_="" ns3:_="">
    <xsd:import namespace="3bff0320-9b13-4fa2-a607-cc866c0a48c4"/>
    <xsd:import namespace="cf0e4ace-1dbb-4e9b-acd6-8d478fc29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f0320-9b13-4fa2-a607-cc866c0a48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c2506c3-735d-4e70-aa79-204d06275b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e4ace-1dbb-4e9b-acd6-8d478fc2981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24ea677-cdd4-4719-bd0f-c0d5f3a18e01}" ma:internalName="TaxCatchAll" ma:showField="CatchAllData" ma:web="cf0e4ace-1dbb-4e9b-acd6-8d478fc298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0e4ace-1dbb-4e9b-acd6-8d478fc29819" xsi:nil="true"/>
    <lcf76f155ced4ddcb4097134ff3c332f xmlns="3bff0320-9b13-4fa2-a607-cc866c0a48c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6A73585-660E-4581-AF1D-A8A850E54EFE}">
  <ds:schemaRefs>
    <ds:schemaRef ds:uri="3bff0320-9b13-4fa2-a607-cc866c0a48c4"/>
    <ds:schemaRef ds:uri="cf0e4ace-1dbb-4e9b-acd6-8d478fc29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81B7232-2D99-447F-8FE5-167805B4BD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F4BC52-9571-4826-8B3B-7FA49BFE53CF}">
  <ds:schemaRefs>
    <ds:schemaRef ds:uri="3bff0320-9b13-4fa2-a607-cc866c0a48c4"/>
    <ds:schemaRef ds:uri="cf0e4ace-1dbb-4e9b-acd6-8d478fc29819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44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46" baseType="lpstr">
      <vt:lpstr>ASDL Dark</vt:lpstr>
      <vt:lpstr>ASDL Bright</vt:lpstr>
      <vt:lpstr>4699 SysML Team 102 Europa Submarine Model</vt:lpstr>
      <vt:lpstr>Background of Europa Exploration: Europa Clipper</vt:lpstr>
      <vt:lpstr>Europa and Our Mission</vt:lpstr>
      <vt:lpstr>The Team</vt:lpstr>
      <vt:lpstr>Power Subsystem</vt:lpstr>
      <vt:lpstr>Power Subsystem</vt:lpstr>
      <vt:lpstr>Power Subsystem Block Parametrics</vt:lpstr>
      <vt:lpstr>Power Example Instance</vt:lpstr>
      <vt:lpstr>Thermal Control Subsystem</vt:lpstr>
      <vt:lpstr>Equations</vt:lpstr>
      <vt:lpstr>Albedo Parametrics </vt:lpstr>
      <vt:lpstr>Internal Parametrics </vt:lpstr>
      <vt:lpstr>Planet-IR Parametrics </vt:lpstr>
      <vt:lpstr>Radiated Parametrics </vt:lpstr>
      <vt:lpstr>Solar Parametrics</vt:lpstr>
      <vt:lpstr>Heating Parametrics</vt:lpstr>
      <vt:lpstr>Radiation Shielding &amp; Structural Subsystem</vt:lpstr>
      <vt:lpstr>PowerPoint Presentation</vt:lpstr>
      <vt:lpstr>PowerPoint Presentation</vt:lpstr>
      <vt:lpstr>PowerPoint Presentation</vt:lpstr>
      <vt:lpstr>PowerPoint Presentation</vt:lpstr>
      <vt:lpstr>Communication Subsystem</vt:lpstr>
      <vt:lpstr>Communication System Architecture</vt:lpstr>
      <vt:lpstr>Communication Equations Used</vt:lpstr>
      <vt:lpstr>Communication System Architecture</vt:lpstr>
      <vt:lpstr>Communication Sample values used for calculation</vt:lpstr>
      <vt:lpstr>Propulsion Subsystem</vt:lpstr>
      <vt:lpstr>Equations</vt:lpstr>
      <vt:lpstr>Propulsion BDD Diagram</vt:lpstr>
      <vt:lpstr>Propulsion Parametric Diagram</vt:lpstr>
      <vt:lpstr>Propulsion Parametric Diagram</vt:lpstr>
      <vt:lpstr>Propulsion Simulation Example Results</vt:lpstr>
      <vt:lpstr>GNC Subsystem</vt:lpstr>
      <vt:lpstr>GNC System Architecture</vt:lpstr>
      <vt:lpstr>Equations Used</vt:lpstr>
      <vt:lpstr>Parametric Diagram</vt:lpstr>
      <vt:lpstr>Sample values used for calculation</vt:lpstr>
      <vt:lpstr>Integrated Subsystems</vt:lpstr>
      <vt:lpstr>Integration Architecture</vt:lpstr>
      <vt:lpstr>Integration Architecture</vt:lpstr>
      <vt:lpstr>Equations Used</vt:lpstr>
      <vt:lpstr>Integration BDD</vt:lpstr>
      <vt:lpstr>Integration BDD</vt:lpstr>
      <vt:lpstr>Integration Parametric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4699 SysML Team 102 Europa Submarine Model</dc:title>
  <dc:creator>McNabb, Jeffrey T</dc:creator>
  <cp:revision>2</cp:revision>
  <dcterms:created xsi:type="dcterms:W3CDTF">2025-08-26T17:13:28Z</dcterms:created>
  <dcterms:modified xsi:type="dcterms:W3CDTF">2026-07-25T21:18:12Z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0x01010070CBD1AABAF3C44AA7D43AEA05F8D608</vt:lpwstr>
  </property>
  <property fmtid="{D5CDD505-2E9C-101B-9397-08002B2CF9AE}" pid="3" name="MediaServiceImageTags">
    <vt:lpwstr/>
  </property>
</Properties>
</file>